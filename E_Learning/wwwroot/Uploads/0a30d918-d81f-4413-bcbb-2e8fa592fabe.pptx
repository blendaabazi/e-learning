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3"/>
  </p:notesMasterIdLst>
  <p:sldIdLst>
    <p:sldId id="256" r:id="rId2"/>
    <p:sldId id="25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312" r:id="rId11"/>
    <p:sldId id="297" r:id="rId12"/>
    <p:sldId id="313" r:id="rId13"/>
    <p:sldId id="314" r:id="rId14"/>
    <p:sldId id="298" r:id="rId15"/>
    <p:sldId id="299" r:id="rId16"/>
    <p:sldId id="315" r:id="rId17"/>
    <p:sldId id="300" r:id="rId18"/>
    <p:sldId id="316" r:id="rId19"/>
    <p:sldId id="301" r:id="rId20"/>
    <p:sldId id="317" r:id="rId21"/>
    <p:sldId id="318" r:id="rId22"/>
    <p:sldId id="319" r:id="rId23"/>
    <p:sldId id="302" r:id="rId24"/>
    <p:sldId id="303" r:id="rId25"/>
    <p:sldId id="320" r:id="rId26"/>
    <p:sldId id="321" r:id="rId27"/>
    <p:sldId id="322" r:id="rId28"/>
    <p:sldId id="323" r:id="rId29"/>
    <p:sldId id="324" r:id="rId30"/>
    <p:sldId id="306" r:id="rId31"/>
    <p:sldId id="325" r:id="rId32"/>
    <p:sldId id="327" r:id="rId33"/>
    <p:sldId id="328" r:id="rId34"/>
    <p:sldId id="330" r:id="rId35"/>
    <p:sldId id="331" r:id="rId36"/>
    <p:sldId id="332" r:id="rId37"/>
    <p:sldId id="308" r:id="rId38"/>
    <p:sldId id="309" r:id="rId39"/>
    <p:sldId id="310" r:id="rId40"/>
    <p:sldId id="311" r:id="rId41"/>
    <p:sldId id="288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D89DBC-1CBE-43C6-B06F-C345277A49F8}">
  <a:tblStyle styleId="{8BD89DBC-1CBE-43C6-B06F-C345277A49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96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127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0124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318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932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312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127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04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217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51933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5363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0654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3690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346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14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1577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5522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1374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3173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8353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4da6bd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4da6bd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73304" y="2075380"/>
            <a:ext cx="7294651" cy="9889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accent1">
                    <a:lumMod val="50000"/>
                  </a:schemeClr>
                </a:solidFill>
              </a:rPr>
              <a:t>MUNDESITE FINANCIARE TE BIZNESIT</a:t>
            </a:r>
            <a:endParaRPr sz="40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517167" y="3394261"/>
            <a:ext cx="3893907" cy="777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Prof. Engelbert Zefaj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Dhjetor 2024</a:t>
            </a:r>
            <a:endParaRPr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48141" y="400693"/>
            <a:ext cx="1212350" cy="121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FINANCAT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/>
            <a:r>
              <a:rPr lang="en-US" sz="2400" dirty="0" err="1"/>
              <a:t>Financat</a:t>
            </a:r>
            <a:r>
              <a:rPr lang="en-US" sz="2400" dirty="0"/>
              <a:t> </a:t>
            </a:r>
            <a:r>
              <a:rPr lang="en-US" sz="2400" dirty="0" err="1"/>
              <a:t>janë</a:t>
            </a:r>
            <a:r>
              <a:rPr lang="en-US" sz="2400" dirty="0"/>
              <a:t> </a:t>
            </a:r>
            <a:r>
              <a:rPr lang="en-US" sz="2400" dirty="0" err="1"/>
              <a:t>kërkesa</a:t>
            </a:r>
            <a:r>
              <a:rPr lang="en-US" sz="2400" dirty="0"/>
              <a:t> </a:t>
            </a:r>
            <a:r>
              <a:rPr lang="en-US" sz="2400" dirty="0" err="1"/>
              <a:t>bazë</a:t>
            </a:r>
            <a:r>
              <a:rPr lang="en-US" sz="2400" dirty="0"/>
              <a:t> e </a:t>
            </a:r>
            <a:r>
              <a:rPr lang="en-US" sz="2400" dirty="0" err="1"/>
              <a:t>çdo</a:t>
            </a:r>
            <a:r>
              <a:rPr lang="en-US" sz="2400" dirty="0"/>
              <a:t> </a:t>
            </a:r>
            <a:r>
              <a:rPr lang="en-US" sz="2400" dirty="0" err="1"/>
              <a:t>biznesi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Ai </a:t>
            </a:r>
            <a:r>
              <a:rPr lang="en-US" sz="2400" dirty="0" err="1"/>
              <a:t>konsiderohet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gjaku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bizneseve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Është</a:t>
            </a:r>
            <a:r>
              <a:rPr lang="en-US" sz="2400" dirty="0"/>
              <a:t> </a:t>
            </a:r>
            <a:r>
              <a:rPr lang="en-US" sz="2400" dirty="0" err="1"/>
              <a:t>shuma</a:t>
            </a:r>
            <a:r>
              <a:rPr lang="en-US" sz="2400" dirty="0"/>
              <a:t> e </a:t>
            </a:r>
            <a:r>
              <a:rPr lang="en-US" sz="2400" dirty="0" err="1"/>
              <a:t>parave</a:t>
            </a:r>
            <a:r>
              <a:rPr lang="en-US" sz="2400" dirty="0"/>
              <a:t>, </a:t>
            </a:r>
            <a:r>
              <a:rPr lang="en-US" sz="2400" dirty="0" err="1"/>
              <a:t>fondeve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</a:t>
            </a:r>
            <a:r>
              <a:rPr lang="en-US" sz="2400" dirty="0" err="1"/>
              <a:t>kapitalit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nevojshëm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funksionimin</a:t>
            </a:r>
            <a:r>
              <a:rPr lang="en-US" sz="2400" dirty="0"/>
              <a:t> normal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çdo</a:t>
            </a:r>
            <a:r>
              <a:rPr lang="en-US" sz="2400" dirty="0"/>
              <a:t> </a:t>
            </a:r>
            <a:r>
              <a:rPr lang="en-US" sz="2400" dirty="0" err="1"/>
              <a:t>biznesi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Kërkohet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çdo</a:t>
            </a:r>
            <a:r>
              <a:rPr lang="en-US" sz="2400" dirty="0"/>
              <a:t> </a:t>
            </a:r>
            <a:r>
              <a:rPr lang="en-US" sz="2400" dirty="0" err="1"/>
              <a:t>fazë</a:t>
            </a:r>
            <a:r>
              <a:rPr lang="en-US" sz="2400" dirty="0"/>
              <a:t>, </a:t>
            </a:r>
            <a:r>
              <a:rPr lang="en-US" sz="2400" dirty="0" err="1"/>
              <a:t>nga</a:t>
            </a:r>
            <a:r>
              <a:rPr lang="en-US" sz="2400" dirty="0"/>
              <a:t> </a:t>
            </a:r>
            <a:r>
              <a:rPr lang="en-US" sz="2400" dirty="0" err="1"/>
              <a:t>gradimi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likuidim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Nevojiten</a:t>
            </a:r>
            <a:r>
              <a:rPr lang="en-US" sz="2400" dirty="0"/>
              <a:t> </a:t>
            </a:r>
            <a:r>
              <a:rPr lang="en-US" sz="2400" dirty="0" err="1"/>
              <a:t>financa</a:t>
            </a:r>
            <a:r>
              <a:rPr lang="en-US" sz="2400" dirty="0"/>
              <a:t> </a:t>
            </a:r>
            <a:r>
              <a:rPr lang="en-US" sz="2400" dirty="0" err="1"/>
              <a:t>adekuate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funksionimin</a:t>
            </a:r>
            <a:r>
              <a:rPr lang="en-US" sz="2400" dirty="0"/>
              <a:t> e </a:t>
            </a:r>
            <a:r>
              <a:rPr lang="en-US" sz="2400" dirty="0" err="1"/>
              <a:t>rregullt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biznesi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Promovuesit</a:t>
            </a:r>
            <a:r>
              <a:rPr lang="en-US" sz="2400" dirty="0"/>
              <a:t> </a:t>
            </a:r>
            <a:r>
              <a:rPr lang="en-US" sz="2400" dirty="0" err="1"/>
              <a:t>duhet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llogarisin</a:t>
            </a:r>
            <a:r>
              <a:rPr lang="en-US" sz="2400" dirty="0"/>
              <a:t> </a:t>
            </a:r>
            <a:r>
              <a:rPr lang="en-US" sz="2400" dirty="0" err="1"/>
              <a:t>nevojat</a:t>
            </a:r>
            <a:r>
              <a:rPr lang="en-US" sz="2400" dirty="0"/>
              <a:t> </a:t>
            </a:r>
            <a:r>
              <a:rPr lang="en-US" sz="2400" dirty="0" err="1"/>
              <a:t>financiare</a:t>
            </a:r>
            <a:r>
              <a:rPr lang="en-US" sz="2400" dirty="0"/>
              <a:t> </a:t>
            </a:r>
            <a:r>
              <a:rPr lang="en-US" sz="2400" dirty="0" err="1"/>
              <a:t>përmes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plani</a:t>
            </a:r>
            <a:r>
              <a:rPr lang="en-US" sz="2400" dirty="0"/>
              <a:t> </a:t>
            </a:r>
            <a:r>
              <a:rPr lang="en-US" sz="2400" dirty="0" err="1"/>
              <a:t>financiar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Menaxhimi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duhur</a:t>
            </a:r>
            <a:r>
              <a:rPr lang="en-US" sz="2400" dirty="0"/>
              <a:t> </a:t>
            </a:r>
            <a:r>
              <a:rPr lang="en-US" sz="2400" dirty="0" err="1"/>
              <a:t>financiar</a:t>
            </a:r>
            <a:r>
              <a:rPr lang="en-US" sz="2400" dirty="0"/>
              <a:t> </a:t>
            </a:r>
            <a:r>
              <a:rPr lang="en-US" sz="2400" dirty="0" err="1"/>
              <a:t>është</a:t>
            </a:r>
            <a:r>
              <a:rPr lang="en-US" sz="2400" dirty="0"/>
              <a:t> </a:t>
            </a:r>
            <a:r>
              <a:rPr lang="en-US" sz="2400" dirty="0" err="1"/>
              <a:t>shumë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rëndësishëm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Burimet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aplikimi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fondeve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Kështu</a:t>
            </a:r>
            <a:r>
              <a:rPr lang="en-US" sz="2400" dirty="0"/>
              <a:t>, </a:t>
            </a:r>
            <a:r>
              <a:rPr lang="en-US" sz="2400" dirty="0" err="1"/>
              <a:t>financat</a:t>
            </a:r>
            <a:r>
              <a:rPr lang="en-US" sz="2400" dirty="0"/>
              <a:t> </a:t>
            </a:r>
            <a:r>
              <a:rPr lang="en-US" sz="2400" dirty="0" err="1"/>
              <a:t>ndikojnë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përfitimin</a:t>
            </a:r>
            <a:r>
              <a:rPr lang="en-US" sz="2400" dirty="0"/>
              <a:t>, </a:t>
            </a:r>
            <a:r>
              <a:rPr lang="en-US" sz="2400" dirty="0" err="1"/>
              <a:t>rritjen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mbijetesën</a:t>
            </a:r>
            <a:r>
              <a:rPr lang="en-US" sz="2400" dirty="0"/>
              <a:t> e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biznesi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Pa </a:t>
            </a:r>
            <a:r>
              <a:rPr lang="en-US" sz="2400" dirty="0" err="1"/>
              <a:t>financa</a:t>
            </a:r>
            <a:r>
              <a:rPr lang="en-US" sz="2400" dirty="0"/>
              <a:t>, pa </a:t>
            </a:r>
            <a:r>
              <a:rPr lang="en-US" sz="2400" dirty="0" err="1"/>
              <a:t>biznes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Qëllimi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financimit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FINANCIMI I BIZNESIT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US" sz="2400" dirty="0" err="1"/>
              <a:t>Financimi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biznesit</a:t>
            </a:r>
            <a:r>
              <a:rPr lang="en-US" sz="2400" dirty="0"/>
              <a:t> </a:t>
            </a:r>
            <a:r>
              <a:rPr lang="en-US" sz="2400" dirty="0" err="1"/>
              <a:t>është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proces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mbledhjes</a:t>
            </a:r>
            <a:r>
              <a:rPr lang="en-US" sz="2400" dirty="0"/>
              <a:t>, </a:t>
            </a:r>
            <a:r>
              <a:rPr lang="en-US" sz="2400" dirty="0" err="1"/>
              <a:t>sigurimit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menaxhimit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gjitha</a:t>
            </a:r>
            <a:r>
              <a:rPr lang="en-US" sz="2400" dirty="0"/>
              <a:t> </a:t>
            </a:r>
            <a:r>
              <a:rPr lang="en-US" sz="2400" dirty="0" err="1"/>
              <a:t>parave</a:t>
            </a:r>
            <a:r>
              <a:rPr lang="en-US" sz="2400" dirty="0"/>
              <a:t> </a:t>
            </a:r>
            <a:r>
              <a:rPr lang="en-US" sz="2400" dirty="0" err="1"/>
              <a:t>që</a:t>
            </a:r>
            <a:r>
              <a:rPr lang="en-US" sz="2400" dirty="0"/>
              <a:t> do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përdoren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lidhje</a:t>
            </a:r>
            <a:r>
              <a:rPr lang="en-US" sz="2400" dirty="0"/>
              <a:t> me </a:t>
            </a:r>
            <a:r>
              <a:rPr lang="en-US" sz="2400" dirty="0" err="1"/>
              <a:t>aktivitetet</a:t>
            </a:r>
            <a:r>
              <a:rPr lang="en-US" sz="2400" dirty="0"/>
              <a:t> e </a:t>
            </a:r>
            <a:r>
              <a:rPr lang="en-US" sz="2400" dirty="0" err="1"/>
              <a:t>biznesit</a:t>
            </a:r>
            <a:r>
              <a:rPr lang="en-US" sz="2400" dirty="0"/>
              <a:t>.</a:t>
            </a:r>
          </a:p>
          <a:p>
            <a:pPr marL="114300" indent="0">
              <a:buNone/>
            </a:pPr>
            <a:endParaRPr lang="en-US" sz="2400" dirty="0"/>
          </a:p>
          <a:p>
            <a:r>
              <a:rPr lang="en-US" sz="2400" dirty="0" err="1"/>
              <a:t>Financat</a:t>
            </a:r>
            <a:r>
              <a:rPr lang="en-US" sz="2400" dirty="0"/>
              <a:t> e </a:t>
            </a:r>
            <a:r>
              <a:rPr lang="en-US" sz="2400" dirty="0" err="1"/>
              <a:t>Biznesit</a:t>
            </a:r>
            <a:r>
              <a:rPr lang="en-US" sz="2400" dirty="0"/>
              <a:t> </a:t>
            </a:r>
            <a:r>
              <a:rPr lang="en-US" sz="2400" dirty="0" err="1"/>
              <a:t>janë</a:t>
            </a:r>
            <a:r>
              <a:rPr lang="en-US" sz="2400" dirty="0"/>
              <a:t> </a:t>
            </a:r>
            <a:r>
              <a:rPr lang="en-US" sz="2400" dirty="0" err="1"/>
              <a:t>financat</a:t>
            </a:r>
            <a:r>
              <a:rPr lang="en-US" sz="2400" dirty="0"/>
              <a:t> e </a:t>
            </a:r>
            <a:r>
              <a:rPr lang="en-US" sz="2400" dirty="0" err="1"/>
              <a:t>nevojshme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kryerjen</a:t>
            </a:r>
            <a:r>
              <a:rPr lang="en-US" sz="2400" dirty="0"/>
              <a:t> e </a:t>
            </a:r>
            <a:r>
              <a:rPr lang="en-US" sz="2400" dirty="0" err="1"/>
              <a:t>aktiviteteve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biznesit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Bizneset</a:t>
            </a:r>
            <a:r>
              <a:rPr lang="en-US" sz="2400" dirty="0"/>
              <a:t> </a:t>
            </a:r>
            <a:r>
              <a:rPr lang="en-US" sz="2400" dirty="0" err="1"/>
              <a:t>moderne</a:t>
            </a:r>
            <a:r>
              <a:rPr lang="en-US" sz="2400" dirty="0"/>
              <a:t> </a:t>
            </a:r>
            <a:r>
              <a:rPr lang="en-US" sz="2400" dirty="0" err="1"/>
              <a:t>kërkojnë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sasi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madhe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kapitalit</a:t>
            </a:r>
            <a:r>
              <a:rPr lang="en-US" sz="2400" dirty="0"/>
              <a:t> </a:t>
            </a:r>
            <a:r>
              <a:rPr lang="en-US" sz="2400" dirty="0" err="1"/>
              <a:t>fiks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qarkullues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kryer</a:t>
            </a:r>
            <a:r>
              <a:rPr lang="en-US" sz="2400" dirty="0"/>
              <a:t> </a:t>
            </a:r>
            <a:r>
              <a:rPr lang="en-US" sz="2400" dirty="0" err="1"/>
              <a:t>biznes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KUPTIMI I FINANCAVE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/>
            <a:r>
              <a:rPr lang="en-US" sz="2400" dirty="0" err="1"/>
              <a:t>Kapital</a:t>
            </a:r>
            <a:r>
              <a:rPr lang="en-US" sz="2400" dirty="0"/>
              <a:t> i </a:t>
            </a:r>
            <a:r>
              <a:rPr lang="en-US" sz="2400" dirty="0" err="1"/>
              <a:t>nevojshme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kryerjen</a:t>
            </a:r>
            <a:r>
              <a:rPr lang="en-US" sz="2400" dirty="0"/>
              <a:t> e </a:t>
            </a:r>
            <a:r>
              <a:rPr lang="en-US" sz="2400" dirty="0" err="1"/>
              <a:t>aktiviteteve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biznesit</a:t>
            </a:r>
            <a:r>
              <a:rPr lang="en-US" sz="2400" dirty="0"/>
              <a:t> </a:t>
            </a:r>
            <a:r>
              <a:rPr lang="en-US" sz="2400" dirty="0" err="1"/>
              <a:t>quhen</a:t>
            </a:r>
            <a:r>
              <a:rPr lang="en-US" sz="2400" dirty="0"/>
              <a:t> </a:t>
            </a:r>
            <a:r>
              <a:rPr lang="en-US" sz="2400" dirty="0" err="1"/>
              <a:t>financa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biznesit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 err="1"/>
              <a:t>Përkufizimi</a:t>
            </a:r>
            <a:endParaRPr lang="en-US" sz="2400" b="1" dirty="0"/>
          </a:p>
          <a:p>
            <a:pPr lvl="0"/>
            <a:r>
              <a:rPr lang="en-US" sz="2400" dirty="0"/>
              <a:t>“</a:t>
            </a:r>
            <a:r>
              <a:rPr lang="en-US" sz="2400" dirty="0" err="1"/>
              <a:t>Financat</a:t>
            </a:r>
            <a:r>
              <a:rPr lang="en-US" sz="2400" dirty="0"/>
              <a:t> e </a:t>
            </a:r>
            <a:r>
              <a:rPr lang="en-US" sz="2400" dirty="0" err="1"/>
              <a:t>biznesit</a:t>
            </a:r>
            <a:r>
              <a:rPr lang="en-US" sz="2400" dirty="0"/>
              <a:t> </a:t>
            </a:r>
            <a:r>
              <a:rPr lang="en-US" sz="2400" dirty="0" err="1"/>
              <a:t>mund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përkufizohen</a:t>
            </a:r>
            <a:r>
              <a:rPr lang="en-US" sz="2400" dirty="0"/>
              <a:t> </a:t>
            </a:r>
            <a:r>
              <a:rPr lang="en-US" sz="2400" dirty="0" err="1"/>
              <a:t>gjerësisht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aktivitet</a:t>
            </a:r>
            <a:r>
              <a:rPr lang="en-US" sz="2400" dirty="0"/>
              <a:t> </a:t>
            </a:r>
            <a:r>
              <a:rPr lang="en-US" sz="2400" dirty="0" err="1"/>
              <a:t>që</a:t>
            </a:r>
            <a:r>
              <a:rPr lang="en-US" sz="2400" dirty="0"/>
              <a:t> ka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bëjë</a:t>
            </a:r>
            <a:r>
              <a:rPr lang="en-US" sz="2400" dirty="0"/>
              <a:t> me </a:t>
            </a:r>
            <a:r>
              <a:rPr lang="en-US" sz="2400" dirty="0" err="1"/>
              <a:t>planifikimin</a:t>
            </a:r>
            <a:r>
              <a:rPr lang="en-US" sz="2400" dirty="0"/>
              <a:t>, </a:t>
            </a:r>
            <a:r>
              <a:rPr lang="en-US" sz="2400" dirty="0" err="1"/>
              <a:t>mbledhjen</a:t>
            </a:r>
            <a:r>
              <a:rPr lang="en-US" sz="2400" dirty="0"/>
              <a:t>, </a:t>
            </a:r>
            <a:r>
              <a:rPr lang="en-US" sz="2400" dirty="0" err="1"/>
              <a:t>kontrollin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administrimin</a:t>
            </a:r>
            <a:r>
              <a:rPr lang="en-US" sz="2400" dirty="0"/>
              <a:t> e </a:t>
            </a:r>
            <a:r>
              <a:rPr lang="en-US" sz="2400" dirty="0" err="1"/>
              <a:t>fondeve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përdorura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biznes</a:t>
            </a:r>
            <a:r>
              <a:rPr lang="en-US" sz="2400" dirty="0"/>
              <a:t>.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KUPTIMI I FINANCAVE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None/>
            </a:pPr>
            <a:r>
              <a:rPr lang="en-US" sz="2400" b="1" dirty="0" err="1"/>
              <a:t>Karakteristikat</a:t>
            </a:r>
            <a:r>
              <a:rPr lang="en-US" sz="2400" b="1" dirty="0"/>
              <a:t>...</a:t>
            </a:r>
            <a:endParaRPr lang="en-US" sz="2400" dirty="0"/>
          </a:p>
          <a:p>
            <a:pPr lvl="0"/>
            <a:r>
              <a:rPr lang="en-US" sz="2400" dirty="0" err="1"/>
              <a:t>Merren</a:t>
            </a:r>
            <a:r>
              <a:rPr lang="en-US" sz="2400" dirty="0"/>
              <a:t> me </a:t>
            </a:r>
            <a:r>
              <a:rPr lang="en-US" sz="2400" dirty="0" err="1"/>
              <a:t>aspektin</a:t>
            </a:r>
            <a:r>
              <a:rPr lang="en-US" sz="2400" dirty="0"/>
              <a:t> </a:t>
            </a:r>
            <a:r>
              <a:rPr lang="en-US" sz="2400" dirty="0" err="1"/>
              <a:t>financiar</a:t>
            </a:r>
            <a:endParaRPr lang="en-US" sz="2400" dirty="0"/>
          </a:p>
          <a:p>
            <a:pPr lvl="0"/>
            <a:r>
              <a:rPr lang="en-US" sz="2400" dirty="0" err="1"/>
              <a:t>Merret</a:t>
            </a:r>
            <a:r>
              <a:rPr lang="en-US" sz="2400" dirty="0"/>
              <a:t> me </a:t>
            </a:r>
            <a:r>
              <a:rPr lang="en-US" sz="2400" dirty="0" err="1"/>
              <a:t>vlerësimin</a:t>
            </a:r>
            <a:r>
              <a:rPr lang="en-US" sz="2400" dirty="0"/>
              <a:t>, </a:t>
            </a:r>
            <a:r>
              <a:rPr lang="en-US" sz="2400" dirty="0" err="1"/>
              <a:t>mbledhjen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përdorimin</a:t>
            </a:r>
            <a:r>
              <a:rPr lang="en-US" sz="2400" dirty="0"/>
              <a:t> e </a:t>
            </a:r>
            <a:r>
              <a:rPr lang="en-US" sz="2400" dirty="0" err="1"/>
              <a:t>fondeve</a:t>
            </a:r>
            <a:endParaRPr lang="en-US" sz="2400" dirty="0"/>
          </a:p>
          <a:p>
            <a:pPr lvl="0"/>
            <a:r>
              <a:rPr lang="en-US" sz="2400" dirty="0"/>
              <a:t>Ka </a:t>
            </a:r>
            <a:r>
              <a:rPr lang="en-US" sz="2400" dirty="0" err="1"/>
              <a:t>nevojë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planifikim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kontroll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duhur</a:t>
            </a:r>
            <a:endParaRPr lang="en-US" sz="2400" dirty="0"/>
          </a:p>
          <a:p>
            <a:pPr lvl="0"/>
            <a:r>
              <a:rPr lang="en-US" sz="2400" dirty="0" err="1"/>
              <a:t>Veprimtari</a:t>
            </a:r>
            <a:r>
              <a:rPr lang="en-US" sz="2400" dirty="0"/>
              <a:t> e </a:t>
            </a:r>
            <a:r>
              <a:rPr lang="en-US" sz="2400" dirty="0" err="1"/>
              <a:t>orientuar</a:t>
            </a:r>
            <a:r>
              <a:rPr lang="en-US" sz="2400" dirty="0"/>
              <a:t> </a:t>
            </a:r>
            <a:r>
              <a:rPr lang="en-US" sz="2400" dirty="0" err="1"/>
              <a:t>drejt</a:t>
            </a:r>
            <a:r>
              <a:rPr lang="en-US" sz="2400" dirty="0"/>
              <a:t> </a:t>
            </a:r>
            <a:r>
              <a:rPr lang="en-US" sz="2400" dirty="0" err="1"/>
              <a:t>objektivave</a:t>
            </a:r>
            <a:endParaRPr lang="en-US" sz="2400" dirty="0"/>
          </a:p>
          <a:p>
            <a:pPr lvl="0"/>
            <a:r>
              <a:rPr lang="en-US" sz="2400" dirty="0" err="1"/>
              <a:t>Aspekti</a:t>
            </a:r>
            <a:r>
              <a:rPr lang="en-US" sz="2400" dirty="0"/>
              <a:t> </a:t>
            </a:r>
            <a:r>
              <a:rPr lang="en-US" sz="2400" dirty="0" err="1"/>
              <a:t>kryesor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menaxhimit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biznesit</a:t>
            </a:r>
            <a:endParaRPr lang="en-US" sz="2400" dirty="0"/>
          </a:p>
          <a:p>
            <a:pPr lvl="0"/>
            <a:r>
              <a:rPr lang="en-US" sz="2400" dirty="0" err="1"/>
              <a:t>Natyra</a:t>
            </a:r>
            <a:r>
              <a:rPr lang="en-US" sz="2400" dirty="0"/>
              <a:t> </a:t>
            </a:r>
            <a:r>
              <a:rPr lang="en-US" sz="2400" dirty="0" err="1"/>
              <a:t>dinamike</a:t>
            </a:r>
            <a:endParaRPr lang="en-US" sz="2400" dirty="0"/>
          </a:p>
          <a:p>
            <a:pPr lvl="0"/>
            <a:r>
              <a:rPr lang="en-US" sz="2400" dirty="0" err="1"/>
              <a:t>Biznesi</a:t>
            </a:r>
            <a:r>
              <a:rPr lang="en-US" sz="2400" dirty="0"/>
              <a:t> ka </a:t>
            </a:r>
            <a:r>
              <a:rPr lang="en-US" sz="2400" dirty="0" err="1"/>
              <a:t>nevojë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lloje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ndryshme</a:t>
            </a:r>
            <a:r>
              <a:rPr lang="en-US" sz="2400" dirty="0"/>
              <a:t> </a:t>
            </a:r>
            <a:r>
              <a:rPr lang="en-US" sz="2400" dirty="0" err="1"/>
              <a:t>financash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mbledhura</a:t>
            </a:r>
            <a:r>
              <a:rPr lang="en-US" sz="2400" dirty="0"/>
              <a:t> </a:t>
            </a:r>
            <a:r>
              <a:rPr lang="en-US" sz="2400" dirty="0" err="1"/>
              <a:t>nga</a:t>
            </a:r>
            <a:r>
              <a:rPr lang="en-US" sz="2400" dirty="0"/>
              <a:t> </a:t>
            </a:r>
            <a:r>
              <a:rPr lang="en-US" sz="2400" dirty="0" err="1"/>
              <a:t>burime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ndryshme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ROLI I FINANCAVE NE BIZNES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/>
            <a:r>
              <a:rPr lang="en-US" sz="2400" dirty="0" err="1"/>
              <a:t>Ndikojne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mbijetesën</a:t>
            </a:r>
            <a:r>
              <a:rPr lang="en-US" sz="2400" dirty="0"/>
              <a:t>, </a:t>
            </a:r>
            <a:r>
              <a:rPr lang="en-US" sz="2400" dirty="0" err="1"/>
              <a:t>përfitueshmërinë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rritjen</a:t>
            </a:r>
            <a:r>
              <a:rPr lang="en-US" sz="2400" dirty="0"/>
              <a:t> e </a:t>
            </a:r>
            <a:r>
              <a:rPr lang="en-US" sz="2400" dirty="0" err="1"/>
              <a:t>firmës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Është</a:t>
            </a:r>
            <a:r>
              <a:rPr lang="en-US" sz="2400" dirty="0"/>
              <a:t> e </a:t>
            </a:r>
            <a:r>
              <a:rPr lang="en-US" sz="2400" dirty="0" err="1"/>
              <a:t>nevojshme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promovimin</a:t>
            </a:r>
            <a:r>
              <a:rPr lang="en-US" sz="2400" dirty="0"/>
              <a:t> e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organizate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Siguron</a:t>
            </a:r>
            <a:r>
              <a:rPr lang="en-US" sz="2400" dirty="0"/>
              <a:t> </a:t>
            </a:r>
            <a:r>
              <a:rPr lang="en-US" sz="2400" dirty="0" err="1"/>
              <a:t>funksionimin</a:t>
            </a:r>
            <a:r>
              <a:rPr lang="en-US" sz="2400" dirty="0"/>
              <a:t> e </a:t>
            </a:r>
            <a:r>
              <a:rPr lang="en-US" sz="2400" dirty="0" err="1"/>
              <a:t>rregullt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organizate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Financat</a:t>
            </a:r>
            <a:r>
              <a:rPr lang="en-US" sz="2400" dirty="0"/>
              <a:t> </a:t>
            </a:r>
            <a:r>
              <a:rPr lang="en-US" sz="2400" dirty="0" err="1"/>
              <a:t>janë</a:t>
            </a:r>
            <a:r>
              <a:rPr lang="en-US" sz="2400" dirty="0"/>
              <a:t> </a:t>
            </a:r>
            <a:r>
              <a:rPr lang="en-US" sz="2400" dirty="0" err="1"/>
              <a:t>shtylla</a:t>
            </a:r>
            <a:r>
              <a:rPr lang="en-US" sz="2400" dirty="0"/>
              <a:t> </a:t>
            </a:r>
            <a:r>
              <a:rPr lang="en-US" sz="2400" dirty="0" err="1"/>
              <a:t>kurrizore</a:t>
            </a:r>
            <a:r>
              <a:rPr lang="en-US" sz="2400" dirty="0"/>
              <a:t> e </a:t>
            </a:r>
            <a:r>
              <a:rPr lang="en-US" sz="2400" dirty="0" err="1"/>
              <a:t>çdo</a:t>
            </a:r>
            <a:r>
              <a:rPr lang="en-US" sz="2400" dirty="0"/>
              <a:t> </a:t>
            </a:r>
            <a:r>
              <a:rPr lang="en-US" sz="2400" dirty="0" err="1"/>
              <a:t>biznesi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Ajo</a:t>
            </a:r>
            <a:r>
              <a:rPr lang="en-US" sz="2400" dirty="0"/>
              <a:t> </a:t>
            </a:r>
            <a:r>
              <a:rPr lang="en-US" sz="2400" dirty="0" err="1"/>
              <a:t>sjell</a:t>
            </a:r>
            <a:r>
              <a:rPr lang="en-US" sz="2400" dirty="0"/>
              <a:t> </a:t>
            </a:r>
            <a:r>
              <a:rPr lang="en-US" sz="2400" dirty="0" err="1"/>
              <a:t>stabilitet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ndërmarrje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Zgjerimi</a:t>
            </a:r>
            <a:r>
              <a:rPr lang="en-US" sz="2400" dirty="0"/>
              <a:t>, </a:t>
            </a:r>
            <a:r>
              <a:rPr lang="en-US" sz="2400" dirty="0" err="1"/>
              <a:t>modernizimi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diversifikimi</a:t>
            </a:r>
            <a:r>
              <a:rPr lang="en-US" sz="2400" dirty="0"/>
              <a:t> </a:t>
            </a:r>
            <a:r>
              <a:rPr lang="en-US" sz="2400" dirty="0" err="1"/>
              <a:t>është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mundur</a:t>
            </a:r>
            <a:r>
              <a:rPr lang="en-US" sz="2400" dirty="0"/>
              <a:t> </a:t>
            </a:r>
            <a:r>
              <a:rPr lang="en-US" sz="2400" dirty="0" err="1"/>
              <a:t>vetëm</a:t>
            </a:r>
            <a:r>
              <a:rPr lang="en-US" sz="2400" dirty="0"/>
              <a:t> </a:t>
            </a:r>
            <a:r>
              <a:rPr lang="en-US" sz="2400" dirty="0" err="1"/>
              <a:t>kur</a:t>
            </a:r>
            <a:r>
              <a:rPr lang="en-US" sz="2400" dirty="0"/>
              <a:t> ka </a:t>
            </a:r>
            <a:r>
              <a:rPr lang="en-US" sz="2400" dirty="0" err="1"/>
              <a:t>fonde</a:t>
            </a:r>
            <a:r>
              <a:rPr lang="en-US" sz="2400" dirty="0"/>
              <a:t> </a:t>
            </a:r>
            <a:r>
              <a:rPr lang="en-US" sz="2400" dirty="0" err="1"/>
              <a:t>adekuate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dispozicion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Mbështet</a:t>
            </a:r>
            <a:r>
              <a:rPr lang="en-US" sz="2400" dirty="0"/>
              <a:t> </a:t>
            </a:r>
            <a:r>
              <a:rPr lang="en-US" sz="2400" dirty="0" err="1"/>
              <a:t>fusha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tjera</a:t>
            </a:r>
            <a:r>
              <a:rPr lang="en-US" sz="2400" dirty="0"/>
              <a:t> </a:t>
            </a:r>
            <a:r>
              <a:rPr lang="en-US" sz="2400" dirty="0" err="1"/>
              <a:t>funksionale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biznesi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Ndihmon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përmbushjen</a:t>
            </a:r>
            <a:r>
              <a:rPr lang="en-US" sz="2400" dirty="0"/>
              <a:t> e </a:t>
            </a:r>
            <a:r>
              <a:rPr lang="en-US" sz="2400" dirty="0" err="1"/>
              <a:t>objektivit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maksimizimit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pasurisë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Financat</a:t>
            </a:r>
            <a:r>
              <a:rPr lang="en-US" sz="2400" dirty="0"/>
              <a:t> e </a:t>
            </a:r>
            <a:r>
              <a:rPr lang="en-US" sz="2400" dirty="0" err="1"/>
              <a:t>Biznesit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ndihmojnë</a:t>
            </a:r>
            <a:r>
              <a:rPr lang="en-US" sz="2400" dirty="0"/>
              <a:t> </a:t>
            </a:r>
            <a:r>
              <a:rPr lang="en-US" sz="2400" dirty="0" err="1"/>
              <a:t>firmat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zgjidhin</a:t>
            </a:r>
            <a:r>
              <a:rPr lang="en-US" sz="2400" dirty="0"/>
              <a:t> </a:t>
            </a:r>
            <a:r>
              <a:rPr lang="en-US" sz="2400" dirty="0" err="1"/>
              <a:t>problemet</a:t>
            </a:r>
            <a:r>
              <a:rPr lang="en-US" sz="2400" dirty="0"/>
              <a:t> e </a:t>
            </a:r>
            <a:r>
              <a:rPr lang="en-US" sz="2400" dirty="0" err="1"/>
              <a:t>biznesit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PARIMET E FINANCIMIT TE BIZNESIT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2800" dirty="0" err="1"/>
              <a:t>Shfrytëzimi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plotë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fondeve</a:t>
            </a:r>
            <a:endParaRPr lang="en-US" sz="2800" dirty="0"/>
          </a:p>
          <a:p>
            <a:pPr lvl="0"/>
            <a:r>
              <a:rPr lang="en-US" sz="2800" dirty="0" err="1"/>
              <a:t>Maksimizimi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kthimit</a:t>
            </a:r>
            <a:r>
              <a:rPr lang="en-US" sz="2800" dirty="0"/>
              <a:t> </a:t>
            </a:r>
            <a:r>
              <a:rPr lang="en-US" sz="2800" dirty="0" err="1"/>
              <a:t>nga</a:t>
            </a:r>
            <a:r>
              <a:rPr lang="en-US" sz="2800" dirty="0"/>
              <a:t> </a:t>
            </a:r>
            <a:r>
              <a:rPr lang="en-US" sz="2800" dirty="0" err="1"/>
              <a:t>investimi</a:t>
            </a:r>
            <a:endParaRPr lang="en-US" sz="2800" dirty="0"/>
          </a:p>
          <a:p>
            <a:pPr lvl="0"/>
            <a:r>
              <a:rPr lang="en-US" sz="2800" dirty="0" err="1"/>
              <a:t>Mbijetesa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prosperiteti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njësisë</a:t>
            </a:r>
            <a:r>
              <a:rPr lang="en-US" sz="2800" dirty="0"/>
              <a:t> </a:t>
            </a:r>
            <a:r>
              <a:rPr lang="en-US" sz="2800" dirty="0" err="1"/>
              <a:t>së</a:t>
            </a:r>
            <a:r>
              <a:rPr lang="en-US" sz="2800" dirty="0"/>
              <a:t> </a:t>
            </a:r>
            <a:r>
              <a:rPr lang="en-US" sz="2800" dirty="0" err="1"/>
              <a:t>biznesit</a:t>
            </a:r>
            <a:endParaRPr lang="en-US" sz="2800" dirty="0"/>
          </a:p>
          <a:p>
            <a:pPr lvl="0"/>
            <a:r>
              <a:rPr lang="en-US" sz="2800" dirty="0" err="1"/>
              <a:t>Balancë</a:t>
            </a:r>
            <a:r>
              <a:rPr lang="en-US" sz="2800" dirty="0"/>
              <a:t> e </a:t>
            </a:r>
            <a:r>
              <a:rPr lang="en-US" sz="2800" dirty="0" err="1"/>
              <a:t>drejtë</a:t>
            </a:r>
            <a:r>
              <a:rPr lang="en-US" sz="2800" dirty="0"/>
              <a:t> midis </a:t>
            </a:r>
            <a:r>
              <a:rPr lang="en-US" sz="2800" dirty="0" err="1"/>
              <a:t>likuiditetit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përfitimit</a:t>
            </a:r>
            <a:endParaRPr lang="en-US" sz="2800" dirty="0"/>
          </a:p>
          <a:p>
            <a:pPr lvl="0"/>
            <a:r>
              <a:rPr lang="en-US" sz="2800" dirty="0" err="1"/>
              <a:t>Imazhi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mirë</a:t>
            </a:r>
            <a:r>
              <a:rPr lang="en-US" sz="2800" dirty="0"/>
              <a:t> </a:t>
            </a:r>
            <a:r>
              <a:rPr lang="en-US" sz="2800" dirty="0" err="1"/>
              <a:t>publik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BURIMET E KAPITALIT PER BIZNES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/>
            <a:r>
              <a:rPr lang="en-US" sz="2800" dirty="0" err="1"/>
              <a:t>Fitimet</a:t>
            </a:r>
            <a:r>
              <a:rPr lang="en-US" sz="2800" dirty="0"/>
              <a:t> e </a:t>
            </a:r>
            <a:r>
              <a:rPr lang="en-US" sz="2800" dirty="0" err="1"/>
              <a:t>pashpërndara</a:t>
            </a:r>
            <a:endParaRPr lang="en-US" sz="2800" dirty="0"/>
          </a:p>
          <a:p>
            <a:pPr lvl="0"/>
            <a:r>
              <a:rPr lang="en-US" sz="2800" dirty="0" err="1"/>
              <a:t>Kredi</a:t>
            </a:r>
            <a:r>
              <a:rPr lang="en-US" sz="2800" dirty="0"/>
              <a:t> </a:t>
            </a:r>
            <a:r>
              <a:rPr lang="en-US" sz="2800" dirty="0" err="1"/>
              <a:t>tregtare</a:t>
            </a:r>
            <a:endParaRPr lang="en-US" sz="2800" dirty="0"/>
          </a:p>
          <a:p>
            <a:pPr lvl="0"/>
            <a:r>
              <a:rPr lang="en-US" sz="2800" dirty="0" err="1"/>
              <a:t>Faktoring</a:t>
            </a:r>
            <a:endParaRPr lang="en-US" sz="2800" dirty="0"/>
          </a:p>
          <a:p>
            <a:pPr lvl="0"/>
            <a:r>
              <a:rPr lang="en-US" sz="2800" dirty="0" err="1"/>
              <a:t>Financimi</a:t>
            </a:r>
            <a:r>
              <a:rPr lang="en-US" sz="2800" dirty="0"/>
              <a:t> duke </a:t>
            </a:r>
            <a:r>
              <a:rPr lang="en-US" sz="2800" dirty="0" err="1"/>
              <a:t>dhënë</a:t>
            </a:r>
            <a:r>
              <a:rPr lang="en-US" sz="2800" dirty="0"/>
              <a:t> me </a:t>
            </a:r>
            <a:r>
              <a:rPr lang="en-US" sz="2800" dirty="0" err="1"/>
              <a:t>qira</a:t>
            </a:r>
            <a:endParaRPr lang="en-US" sz="2800" dirty="0"/>
          </a:p>
          <a:p>
            <a:pPr lvl="0"/>
            <a:r>
              <a:rPr lang="en-US" sz="2800" dirty="0" err="1"/>
              <a:t>Emetimi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aksioneve</a:t>
            </a:r>
            <a:r>
              <a:rPr lang="en-US" sz="2800" dirty="0"/>
              <a:t> (</a:t>
            </a:r>
            <a:r>
              <a:rPr lang="en-US" sz="2800" dirty="0" err="1"/>
              <a:t>aksionet</a:t>
            </a:r>
            <a:r>
              <a:rPr lang="en-US" sz="2800" dirty="0"/>
              <a:t> e </a:t>
            </a:r>
            <a:r>
              <a:rPr lang="en-US" sz="2800" dirty="0" err="1"/>
              <a:t>kapitalit</a:t>
            </a:r>
            <a:r>
              <a:rPr lang="en-US" sz="2800" dirty="0"/>
              <a:t> </a:t>
            </a:r>
            <a:r>
              <a:rPr lang="en-US" sz="2800" dirty="0" err="1"/>
              <a:t>dhe</a:t>
            </a:r>
            <a:r>
              <a:rPr lang="en-US" sz="2800" dirty="0"/>
              <a:t> </a:t>
            </a:r>
            <a:r>
              <a:rPr lang="en-US" sz="2800" dirty="0" err="1"/>
              <a:t>aksionet</a:t>
            </a:r>
            <a:r>
              <a:rPr lang="en-US" sz="2800" dirty="0"/>
              <a:t> </a:t>
            </a:r>
            <a:r>
              <a:rPr lang="en-US" sz="2800" dirty="0" err="1"/>
              <a:t>preferenciale</a:t>
            </a:r>
            <a:r>
              <a:rPr lang="en-US" sz="2800" dirty="0"/>
              <a:t>)</a:t>
            </a:r>
          </a:p>
          <a:p>
            <a:pPr lvl="0"/>
            <a:r>
              <a:rPr lang="en-US" sz="2800" dirty="0" err="1"/>
              <a:t>Depozita</a:t>
            </a:r>
            <a:r>
              <a:rPr lang="en-US" sz="2800" dirty="0"/>
              <a:t> </a:t>
            </a:r>
            <a:r>
              <a:rPr lang="en-US" sz="2800" dirty="0" err="1"/>
              <a:t>publike</a:t>
            </a:r>
            <a:endParaRPr lang="en-US" sz="2800" dirty="0"/>
          </a:p>
          <a:p>
            <a:pPr lvl="0"/>
            <a:r>
              <a:rPr lang="en-US" sz="2800" dirty="0" err="1"/>
              <a:t>Letër</a:t>
            </a:r>
            <a:r>
              <a:rPr lang="en-US" sz="2800" dirty="0"/>
              <a:t> </a:t>
            </a:r>
            <a:r>
              <a:rPr lang="en-US" sz="2800" dirty="0" err="1"/>
              <a:t>komerciale</a:t>
            </a:r>
            <a:endParaRPr lang="en-US" sz="2800" dirty="0"/>
          </a:p>
          <a:p>
            <a:pPr lvl="0"/>
            <a:r>
              <a:rPr lang="en-US" sz="2800" dirty="0" err="1"/>
              <a:t>Obligim</a:t>
            </a:r>
            <a:endParaRPr lang="en-US" sz="2800" dirty="0"/>
          </a:p>
          <a:p>
            <a:pPr lvl="0"/>
            <a:r>
              <a:rPr lang="en-US" sz="2800" dirty="0" err="1"/>
              <a:t>Bankat</a:t>
            </a:r>
            <a:r>
              <a:rPr lang="en-US" sz="2800" dirty="0"/>
              <a:t> </a:t>
            </a:r>
            <a:r>
              <a:rPr lang="en-US" sz="2800" dirty="0" err="1"/>
              <a:t>komerciale</a:t>
            </a:r>
            <a:endParaRPr lang="en-US" sz="2800" dirty="0"/>
          </a:p>
          <a:p>
            <a:pPr lvl="0"/>
            <a:r>
              <a:rPr lang="en-US" sz="2800" dirty="0" err="1"/>
              <a:t>Institucionet</a:t>
            </a:r>
            <a:r>
              <a:rPr lang="en-US" sz="2800" dirty="0"/>
              <a:t> </a:t>
            </a:r>
            <a:r>
              <a:rPr lang="en-US" sz="2800" dirty="0" err="1"/>
              <a:t>financiare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FITIMET E PASHPËRNDARA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20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en-US" sz="2000" dirty="0" err="1"/>
              <a:t>Financat</a:t>
            </a:r>
            <a:r>
              <a:rPr lang="en-US" sz="2000" dirty="0"/>
              <a:t> e </a:t>
            </a:r>
            <a:r>
              <a:rPr lang="en-US" sz="2000" dirty="0" err="1"/>
              <a:t>pashpërndara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referohen</a:t>
            </a:r>
            <a:r>
              <a:rPr lang="en-US" sz="2000" dirty="0"/>
              <a:t> </a:t>
            </a:r>
            <a:r>
              <a:rPr lang="en-US" sz="2000" dirty="0" err="1"/>
              <a:t>burimeve</a:t>
            </a:r>
            <a:r>
              <a:rPr lang="en-US" sz="2000" dirty="0"/>
              <a:t> </a:t>
            </a:r>
            <a:r>
              <a:rPr lang="en-US" sz="2000" dirty="0" err="1"/>
              <a:t>financiare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fitimeve</a:t>
            </a:r>
            <a:r>
              <a:rPr lang="en-US" sz="2000" dirty="0"/>
              <a:t> </a:t>
            </a:r>
            <a:r>
              <a:rPr lang="en-US" sz="2000" dirty="0" err="1"/>
              <a:t>që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 ka </a:t>
            </a:r>
            <a:r>
              <a:rPr lang="en-US" sz="2000" dirty="0" err="1"/>
              <a:t>gjeneruar</a:t>
            </a:r>
            <a:r>
              <a:rPr lang="en-US" sz="2000" dirty="0"/>
              <a:t>,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që</a:t>
            </a:r>
            <a:r>
              <a:rPr lang="en-US" sz="2000" dirty="0"/>
              <a:t> </a:t>
            </a:r>
            <a:r>
              <a:rPr lang="en-US" sz="2000" dirty="0" err="1"/>
              <a:t>ende</a:t>
            </a:r>
            <a:r>
              <a:rPr lang="en-US" sz="2000" dirty="0"/>
              <a:t> </a:t>
            </a:r>
            <a:r>
              <a:rPr lang="en-US" sz="2000" dirty="0" err="1"/>
              <a:t>nuk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ka </a:t>
            </a:r>
            <a:r>
              <a:rPr lang="en-US" sz="2000" dirty="0" err="1"/>
              <a:t>ndarë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shpërndarë</a:t>
            </a:r>
            <a:r>
              <a:rPr lang="en-US" sz="2000" dirty="0"/>
              <a:t> </a:t>
            </a:r>
            <a:r>
              <a:rPr lang="en-US" sz="2000" dirty="0" err="1"/>
              <a:t>te</a:t>
            </a:r>
            <a:r>
              <a:rPr lang="en-US" sz="2000" dirty="0"/>
              <a:t> </a:t>
            </a:r>
            <a:r>
              <a:rPr lang="en-US" sz="2000" dirty="0" err="1"/>
              <a:t>aksionarët</a:t>
            </a:r>
            <a:r>
              <a:rPr lang="en-US" sz="2000" dirty="0"/>
              <a:t>, </a:t>
            </a:r>
            <a:r>
              <a:rPr lang="en-US" sz="2000" dirty="0" err="1"/>
              <a:t>punonjësit</a:t>
            </a:r>
            <a:r>
              <a:rPr lang="en-US" sz="2000" dirty="0"/>
              <a:t>, </a:t>
            </a:r>
            <a:r>
              <a:rPr lang="en-US" sz="2000" dirty="0" err="1"/>
              <a:t>investimet</a:t>
            </a:r>
            <a:r>
              <a:rPr lang="en-US" sz="2000" dirty="0"/>
              <a:t> e </a:t>
            </a:r>
            <a:r>
              <a:rPr lang="en-US" sz="2000" dirty="0" err="1"/>
              <a:t>reja</a:t>
            </a:r>
            <a:r>
              <a:rPr lang="en-US" sz="2000" dirty="0"/>
              <a:t>,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qëllime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tjera</a:t>
            </a:r>
            <a:r>
              <a:rPr lang="en-US" sz="2000" dirty="0"/>
              <a:t>. </a:t>
            </a:r>
            <a:r>
              <a:rPr lang="en-US" sz="2000" dirty="0" err="1"/>
              <a:t>Këto</a:t>
            </a:r>
            <a:r>
              <a:rPr lang="en-US" sz="2000" dirty="0"/>
              <a:t> </a:t>
            </a:r>
            <a:r>
              <a:rPr lang="en-US" sz="2000" dirty="0" err="1"/>
              <a:t>fonde</a:t>
            </a:r>
            <a:r>
              <a:rPr lang="en-US" sz="2000" dirty="0"/>
              <a:t> </a:t>
            </a:r>
            <a:r>
              <a:rPr lang="en-US" sz="2000" dirty="0" err="1"/>
              <a:t>shpesh</a:t>
            </a:r>
            <a:r>
              <a:rPr lang="en-US" sz="2000" dirty="0"/>
              <a:t> </a:t>
            </a:r>
            <a:r>
              <a:rPr lang="en-US" sz="2000" dirty="0" err="1"/>
              <a:t>mbahen</a:t>
            </a:r>
            <a:r>
              <a:rPr lang="en-US" sz="2000" dirty="0"/>
              <a:t> </a:t>
            </a:r>
            <a:r>
              <a:rPr lang="en-US" sz="2000" dirty="0" err="1"/>
              <a:t>brenda</a:t>
            </a:r>
            <a:r>
              <a:rPr lang="en-US" sz="2000" dirty="0"/>
              <a:t> </a:t>
            </a:r>
            <a:r>
              <a:rPr lang="en-US" sz="2000" dirty="0" err="1"/>
              <a:t>kompanisë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përdorim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ardhshëm</a:t>
            </a:r>
            <a:r>
              <a:rPr lang="en-US" sz="2000" dirty="0"/>
              <a:t>, </a:t>
            </a:r>
            <a:r>
              <a:rPr lang="en-US" sz="2000" dirty="0" err="1"/>
              <a:t>si</a:t>
            </a:r>
            <a:r>
              <a:rPr lang="en-US" sz="2000" dirty="0"/>
              <a:t> p.sh.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investime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reja</a:t>
            </a:r>
            <a:r>
              <a:rPr lang="en-US" sz="2000" dirty="0"/>
              <a:t>, </a:t>
            </a:r>
            <a:r>
              <a:rPr lang="en-US" sz="2000" dirty="0" err="1"/>
              <a:t>shlyerje</a:t>
            </a:r>
            <a:r>
              <a:rPr lang="en-US" sz="2000" dirty="0"/>
              <a:t> </a:t>
            </a:r>
            <a:r>
              <a:rPr lang="en-US" sz="2000" dirty="0" err="1"/>
              <a:t>borxhi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krijimin</a:t>
            </a:r>
            <a:r>
              <a:rPr lang="en-US" sz="2000" dirty="0"/>
              <a:t> e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rezerve</a:t>
            </a:r>
            <a:r>
              <a:rPr lang="en-US" sz="2000" dirty="0"/>
              <a:t> </a:t>
            </a:r>
            <a:r>
              <a:rPr lang="en-US" sz="2000" dirty="0" err="1"/>
              <a:t>financiare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b="1" dirty="0" err="1"/>
              <a:t>Shembull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 </a:t>
            </a:r>
            <a:r>
              <a:rPr lang="en-US" sz="2000" b="1" dirty="0" err="1"/>
              <a:t>Financave</a:t>
            </a:r>
            <a:r>
              <a:rPr lang="en-US" sz="2000" b="1" dirty="0"/>
              <a:t> </a:t>
            </a:r>
            <a:r>
              <a:rPr lang="en-US" sz="2000" b="1" dirty="0" err="1"/>
              <a:t>të</a:t>
            </a:r>
            <a:r>
              <a:rPr lang="en-US" sz="2000" b="1" dirty="0"/>
              <a:t> </a:t>
            </a:r>
            <a:r>
              <a:rPr lang="en-US" sz="2000" b="1" dirty="0" err="1"/>
              <a:t>Pashpërndara</a:t>
            </a:r>
            <a:endParaRPr lang="en-US" sz="2000" b="1" dirty="0"/>
          </a:p>
          <a:p>
            <a:pPr marL="114300" indent="0">
              <a:buNone/>
            </a:pPr>
            <a:r>
              <a:rPr lang="en-US" sz="2000" b="1" dirty="0" err="1"/>
              <a:t>Skenar</a:t>
            </a:r>
            <a:r>
              <a:rPr lang="en-US" sz="2000" b="1" dirty="0"/>
              <a:t>: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, </a:t>
            </a:r>
            <a:r>
              <a:rPr lang="en-US" sz="2000" b="1" dirty="0"/>
              <a:t>ABC Tech Ltd.</a:t>
            </a:r>
            <a:r>
              <a:rPr lang="en-US" sz="2000" dirty="0"/>
              <a:t>, </a:t>
            </a:r>
            <a:r>
              <a:rPr lang="en-US" sz="2000" dirty="0" err="1"/>
              <a:t>raporton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fitim</a:t>
            </a:r>
            <a:r>
              <a:rPr lang="en-US" sz="2000" dirty="0"/>
              <a:t> </a:t>
            </a:r>
            <a:r>
              <a:rPr lang="en-US" sz="2000" dirty="0" err="1"/>
              <a:t>neto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$1,000,000 </a:t>
            </a:r>
            <a:r>
              <a:rPr lang="en-US" sz="2000" dirty="0" err="1"/>
              <a:t>në</a:t>
            </a:r>
            <a:r>
              <a:rPr lang="en-US" sz="2000" dirty="0"/>
              <a:t> fund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vitit</a:t>
            </a:r>
            <a:r>
              <a:rPr lang="en-US" sz="2000" dirty="0"/>
              <a:t> </a:t>
            </a:r>
            <a:r>
              <a:rPr lang="en-US" sz="2000" dirty="0" err="1"/>
              <a:t>financiar</a:t>
            </a:r>
            <a:r>
              <a:rPr lang="en-US" sz="2000" dirty="0"/>
              <a:t>. </a:t>
            </a:r>
            <a:r>
              <a:rPr lang="en-US" sz="2000" dirty="0" err="1"/>
              <a:t>Menaxhmenti</a:t>
            </a:r>
            <a:r>
              <a:rPr lang="en-US" sz="2000" dirty="0"/>
              <a:t> </a:t>
            </a:r>
            <a:r>
              <a:rPr lang="en-US" sz="2000" dirty="0" err="1"/>
              <a:t>vendos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alokojë</a:t>
            </a:r>
            <a:r>
              <a:rPr lang="en-US" sz="2000" dirty="0"/>
              <a:t> </a:t>
            </a:r>
            <a:r>
              <a:rPr lang="en-US" sz="2000" dirty="0" err="1"/>
              <a:t>fitimin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më</a:t>
            </a:r>
            <a:r>
              <a:rPr lang="en-US" sz="2000" dirty="0"/>
              <a:t> </a:t>
            </a:r>
            <a:r>
              <a:rPr lang="en-US" sz="2000" dirty="0" err="1"/>
              <a:t>poshtë</a:t>
            </a:r>
            <a:r>
              <a:rPr lang="en-US" sz="2000" dirty="0"/>
              <a:t>:</a:t>
            </a:r>
          </a:p>
          <a:p>
            <a:pPr marL="114300" indent="0">
              <a:buNone/>
            </a:pPr>
            <a:r>
              <a:rPr lang="en-US" sz="2000" dirty="0"/>
              <a:t>$200,000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dividentë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aksionarët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$300,000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investime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reja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projekte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$100,000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bonuse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punonjësit</a:t>
            </a: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dirty="0" err="1"/>
              <a:t>Pjesa</a:t>
            </a:r>
            <a:r>
              <a:rPr lang="en-US" sz="2000" dirty="0"/>
              <a:t> e </a:t>
            </a:r>
            <a:r>
              <a:rPr lang="en-US" sz="2000" dirty="0" err="1"/>
              <a:t>mbetur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</a:t>
            </a:r>
            <a:r>
              <a:rPr lang="en-US" sz="2000" b="1" dirty="0"/>
              <a:t>$400,000</a:t>
            </a:r>
            <a:r>
              <a:rPr lang="en-US" sz="2000" dirty="0"/>
              <a:t> </a:t>
            </a:r>
            <a:r>
              <a:rPr lang="en-US" sz="2000" dirty="0" err="1"/>
              <a:t>nuk</a:t>
            </a:r>
            <a:r>
              <a:rPr lang="en-US" sz="2000" dirty="0"/>
              <a:t> </a:t>
            </a:r>
            <a:r>
              <a:rPr lang="en-US" sz="2000" dirty="0" err="1"/>
              <a:t>alokohet</a:t>
            </a:r>
            <a:r>
              <a:rPr lang="en-US" sz="2000" dirty="0"/>
              <a:t> </a:t>
            </a:r>
            <a:r>
              <a:rPr lang="en-US" sz="2000" dirty="0" err="1"/>
              <a:t>menjëherë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ndonjë</a:t>
            </a:r>
            <a:r>
              <a:rPr lang="en-US" sz="2000" dirty="0"/>
              <a:t> </a:t>
            </a:r>
            <a:r>
              <a:rPr lang="en-US" sz="2000" dirty="0" err="1"/>
              <a:t>qëllim</a:t>
            </a:r>
            <a:r>
              <a:rPr lang="en-US" sz="2000" dirty="0"/>
              <a:t> </a:t>
            </a:r>
            <a:r>
              <a:rPr lang="en-US" sz="2000" dirty="0" err="1"/>
              <a:t>specifik</a:t>
            </a:r>
            <a:r>
              <a:rPr lang="en-US" sz="2000" dirty="0"/>
              <a:t>. </a:t>
            </a:r>
            <a:r>
              <a:rPr lang="en-US" sz="2000" dirty="0" err="1"/>
              <a:t>Kjo</a:t>
            </a:r>
            <a:r>
              <a:rPr lang="en-US" sz="2000" dirty="0"/>
              <a:t> </a:t>
            </a:r>
            <a:r>
              <a:rPr lang="en-US" sz="2000" b="1" dirty="0"/>
              <a:t>$400,000</a:t>
            </a:r>
            <a:r>
              <a:rPr lang="en-US" sz="2000" dirty="0"/>
              <a:t> </a:t>
            </a:r>
            <a:r>
              <a:rPr lang="en-US" sz="2000" dirty="0" err="1"/>
              <a:t>konsiderohet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financa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pashpërndara</a:t>
            </a:r>
            <a:r>
              <a:rPr lang="en-US" sz="2000" dirty="0"/>
              <a:t>. Ajo </a:t>
            </a:r>
            <a:r>
              <a:rPr lang="en-US" sz="2000" dirty="0" err="1"/>
              <a:t>mbetet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pjesë</a:t>
            </a:r>
            <a:r>
              <a:rPr lang="en-US" sz="2000" dirty="0"/>
              <a:t> e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ardhurave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mbajtura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rezervave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kompanisë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pasqyrat</a:t>
            </a:r>
            <a:r>
              <a:rPr lang="en-US" sz="2000" dirty="0"/>
              <a:t> </a:t>
            </a:r>
            <a:r>
              <a:rPr lang="en-US" sz="2000" dirty="0" err="1"/>
              <a:t>financiare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FITIMET E PASHPËRNDARA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20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2000" b="1" dirty="0" err="1"/>
              <a:t>Përdorimi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 </a:t>
            </a:r>
            <a:r>
              <a:rPr lang="en-US" sz="2000" b="1" dirty="0" err="1"/>
              <a:t>Financave</a:t>
            </a:r>
            <a:r>
              <a:rPr lang="en-US" sz="2000" b="1" dirty="0"/>
              <a:t> </a:t>
            </a:r>
            <a:r>
              <a:rPr lang="en-US" sz="2000" b="1" dirty="0" err="1"/>
              <a:t>të</a:t>
            </a:r>
            <a:r>
              <a:rPr lang="en-US" sz="2000" b="1" dirty="0"/>
              <a:t> </a:t>
            </a:r>
            <a:r>
              <a:rPr lang="en-US" sz="2000" b="1" dirty="0" err="1"/>
              <a:t>Pashpërndara</a:t>
            </a:r>
            <a:r>
              <a:rPr lang="en-US" sz="2000" b="1" dirty="0"/>
              <a:t>:</a:t>
            </a:r>
          </a:p>
          <a:p>
            <a:pPr marL="114300" indent="0">
              <a:buNone/>
            </a:pPr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sz="2000" b="1" dirty="0" err="1"/>
              <a:t>Rezervë</a:t>
            </a:r>
            <a:r>
              <a:rPr lang="en-US" sz="2000" b="1" dirty="0"/>
              <a:t> </a:t>
            </a:r>
            <a:r>
              <a:rPr lang="en-US" sz="2000" b="1" dirty="0" err="1"/>
              <a:t>për</a:t>
            </a:r>
            <a:r>
              <a:rPr lang="en-US" sz="2000" b="1" dirty="0"/>
              <a:t> </a:t>
            </a:r>
            <a:r>
              <a:rPr lang="en-US" sz="2000" b="1" dirty="0" err="1"/>
              <a:t>Pasiguri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Kompania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ta </a:t>
            </a:r>
            <a:r>
              <a:rPr lang="en-US" sz="2000" dirty="0" err="1"/>
              <a:t>përdorë</a:t>
            </a:r>
            <a:r>
              <a:rPr lang="en-US" sz="2000" dirty="0"/>
              <a:t> </a:t>
            </a:r>
            <a:r>
              <a:rPr lang="en-US" sz="2000" dirty="0" err="1"/>
              <a:t>këtë</a:t>
            </a:r>
            <a:r>
              <a:rPr lang="en-US" sz="2000" dirty="0"/>
              <a:t> </a:t>
            </a:r>
            <a:r>
              <a:rPr lang="en-US" sz="2000" dirty="0" err="1"/>
              <a:t>shumë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adresuar</a:t>
            </a:r>
            <a:r>
              <a:rPr lang="en-US" sz="2000" dirty="0"/>
              <a:t> </a:t>
            </a:r>
            <a:r>
              <a:rPr lang="en-US" sz="2000" dirty="0" err="1"/>
              <a:t>shpenzime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papritura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sfida</a:t>
            </a:r>
            <a:r>
              <a:rPr lang="en-US" sz="2000" dirty="0"/>
              <a:t> </a:t>
            </a:r>
            <a:r>
              <a:rPr lang="en-US" sz="2000" dirty="0" err="1"/>
              <a:t>financiare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ardhmen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 err="1"/>
              <a:t>Investime</a:t>
            </a:r>
            <a:r>
              <a:rPr lang="en-US" sz="2000" b="1" dirty="0"/>
              <a:t> </a:t>
            </a:r>
            <a:r>
              <a:rPr lang="en-US" sz="2000" b="1" dirty="0" err="1"/>
              <a:t>të</a:t>
            </a:r>
            <a:r>
              <a:rPr lang="en-US" sz="2000" b="1" dirty="0"/>
              <a:t> </a:t>
            </a:r>
            <a:r>
              <a:rPr lang="en-US" sz="2000" b="1" dirty="0" err="1"/>
              <a:t>Ardhshme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Nëse</a:t>
            </a:r>
            <a:r>
              <a:rPr lang="en-US" sz="2000" dirty="0"/>
              <a:t> </a:t>
            </a:r>
            <a:r>
              <a:rPr lang="en-US" sz="2000" dirty="0" err="1"/>
              <a:t>kompania</a:t>
            </a:r>
            <a:r>
              <a:rPr lang="en-US" sz="2000" dirty="0"/>
              <a:t> </a:t>
            </a:r>
            <a:r>
              <a:rPr lang="en-US" sz="2000" dirty="0" err="1"/>
              <a:t>identifikon</a:t>
            </a:r>
            <a:r>
              <a:rPr lang="en-US" sz="2000" dirty="0"/>
              <a:t> </a:t>
            </a:r>
            <a:r>
              <a:rPr lang="en-US" sz="2000" dirty="0" err="1"/>
              <a:t>mundësi</a:t>
            </a:r>
            <a:r>
              <a:rPr lang="en-US" sz="2000" dirty="0"/>
              <a:t> </a:t>
            </a:r>
            <a:r>
              <a:rPr lang="en-US" sz="2000" dirty="0" err="1"/>
              <a:t>rritjeje</a:t>
            </a:r>
            <a:r>
              <a:rPr lang="en-US" sz="2000" dirty="0"/>
              <a:t>, </a:t>
            </a:r>
            <a:r>
              <a:rPr lang="en-US" sz="2000" dirty="0" err="1"/>
              <a:t>si</a:t>
            </a:r>
            <a:r>
              <a:rPr lang="en-US" sz="2000" dirty="0"/>
              <a:t> p.sh. </a:t>
            </a:r>
            <a:r>
              <a:rPr lang="en-US" sz="2000" dirty="0" err="1"/>
              <a:t>blerjen</a:t>
            </a:r>
            <a:r>
              <a:rPr lang="en-US" sz="2000" dirty="0"/>
              <a:t> e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konkurrenti</a:t>
            </a:r>
            <a:r>
              <a:rPr lang="en-US" sz="2000" dirty="0"/>
              <a:t>,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përdorë</a:t>
            </a:r>
            <a:r>
              <a:rPr lang="en-US" sz="2000" dirty="0"/>
              <a:t> </a:t>
            </a:r>
            <a:r>
              <a:rPr lang="en-US" sz="2000" dirty="0" err="1"/>
              <a:t>këtë</a:t>
            </a:r>
            <a:r>
              <a:rPr lang="en-US" sz="2000" dirty="0"/>
              <a:t> </a:t>
            </a:r>
            <a:r>
              <a:rPr lang="en-US" sz="2000" dirty="0" err="1"/>
              <a:t>shumë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pashpërndarë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 err="1"/>
              <a:t>Shlyerje</a:t>
            </a:r>
            <a:r>
              <a:rPr lang="en-US" sz="2000" b="1" dirty="0"/>
              <a:t> e </a:t>
            </a:r>
            <a:r>
              <a:rPr lang="en-US" sz="2000" b="1" dirty="0" err="1"/>
              <a:t>Borxheve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Fondet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përdoren</a:t>
            </a:r>
            <a:r>
              <a:rPr lang="en-US" sz="2000" dirty="0"/>
              <a:t> </a:t>
            </a:r>
            <a:r>
              <a:rPr lang="en-US" sz="2000" dirty="0" err="1"/>
              <a:t>më</a:t>
            </a:r>
            <a:r>
              <a:rPr lang="en-US" sz="2000" dirty="0"/>
              <a:t> </a:t>
            </a:r>
            <a:r>
              <a:rPr lang="en-US" sz="2000" dirty="0" err="1"/>
              <a:t>vonë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ulur</a:t>
            </a:r>
            <a:r>
              <a:rPr lang="en-US" sz="2000" dirty="0"/>
              <a:t> </a:t>
            </a:r>
            <a:r>
              <a:rPr lang="en-US" sz="2000" dirty="0" err="1"/>
              <a:t>detyrimet</a:t>
            </a:r>
            <a:r>
              <a:rPr lang="en-US" sz="2000" dirty="0"/>
              <a:t>.</a:t>
            </a:r>
          </a:p>
          <a:p>
            <a:r>
              <a:rPr lang="en-US" sz="2000" dirty="0"/>
              <a:t>Duke </a:t>
            </a:r>
            <a:r>
              <a:rPr lang="en-US" sz="2000" dirty="0" err="1"/>
              <a:t>mbajtur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pjesë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fitimeve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pashpërndara</a:t>
            </a:r>
            <a:r>
              <a:rPr lang="en-US" sz="2000" dirty="0"/>
              <a:t>, </a:t>
            </a:r>
            <a:r>
              <a:rPr lang="en-US" sz="2000" dirty="0" err="1"/>
              <a:t>kompanitë</a:t>
            </a:r>
            <a:r>
              <a:rPr lang="en-US" sz="2000" dirty="0"/>
              <a:t> </a:t>
            </a:r>
            <a:r>
              <a:rPr lang="en-US" sz="2000" dirty="0" err="1"/>
              <a:t>sigurojnë</a:t>
            </a:r>
            <a:r>
              <a:rPr lang="en-US" sz="2000" dirty="0"/>
              <a:t> </a:t>
            </a:r>
            <a:r>
              <a:rPr lang="en-US" sz="2000" dirty="0" err="1"/>
              <a:t>fleksibilitet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qëndrueshmëri</a:t>
            </a:r>
            <a:r>
              <a:rPr lang="en-US" sz="2000" dirty="0"/>
              <a:t> </a:t>
            </a:r>
            <a:r>
              <a:rPr lang="en-US" sz="2000" dirty="0" err="1"/>
              <a:t>financiare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781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KREDI TREGTARE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>
              <a:buNone/>
            </a:pPr>
            <a:r>
              <a:rPr lang="en-US" sz="2000" dirty="0" err="1"/>
              <a:t>Kredia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referohet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lloj</a:t>
            </a:r>
            <a:r>
              <a:rPr lang="en-US" sz="2000" dirty="0"/>
              <a:t> </a:t>
            </a:r>
            <a:r>
              <a:rPr lang="en-US" sz="2000" dirty="0" err="1"/>
              <a:t>kredie</a:t>
            </a:r>
            <a:r>
              <a:rPr lang="en-US" sz="2000" dirty="0"/>
              <a:t> </a:t>
            </a:r>
            <a:r>
              <a:rPr lang="en-US" sz="2000" dirty="0" err="1"/>
              <a:t>që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biznes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jep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tjetri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lehtësuar</a:t>
            </a:r>
            <a:r>
              <a:rPr lang="en-US" sz="2000" dirty="0"/>
              <a:t> </a:t>
            </a:r>
            <a:r>
              <a:rPr lang="en-US" sz="2000" dirty="0" err="1"/>
              <a:t>transaksionet</a:t>
            </a:r>
            <a:r>
              <a:rPr lang="en-US" sz="2000" dirty="0"/>
              <a:t>. </a:t>
            </a:r>
            <a:r>
              <a:rPr lang="en-US" sz="2000" dirty="0" err="1"/>
              <a:t>Kjo</a:t>
            </a:r>
            <a:r>
              <a:rPr lang="en-US" sz="2000" dirty="0"/>
              <a:t> </a:t>
            </a:r>
            <a:r>
              <a:rPr lang="en-US" sz="2000" dirty="0" err="1"/>
              <a:t>kredi</a:t>
            </a:r>
            <a:r>
              <a:rPr lang="en-US" sz="2000" dirty="0"/>
              <a:t> u </a:t>
            </a:r>
            <a:r>
              <a:rPr lang="en-US" sz="2000" dirty="0" err="1"/>
              <a:t>mundëson</a:t>
            </a:r>
            <a:r>
              <a:rPr lang="en-US" sz="2000" dirty="0"/>
              <a:t> </a:t>
            </a:r>
            <a:r>
              <a:rPr lang="en-US" sz="2000" dirty="0" err="1"/>
              <a:t>bizneseve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blejnë</a:t>
            </a:r>
            <a:r>
              <a:rPr lang="en-US" sz="2000" dirty="0"/>
              <a:t> </a:t>
            </a:r>
            <a:r>
              <a:rPr lang="en-US" sz="2000" dirty="0" err="1"/>
              <a:t>mallra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shërbime</a:t>
            </a:r>
            <a:r>
              <a:rPr lang="en-US" sz="2000" dirty="0"/>
              <a:t> me </a:t>
            </a:r>
            <a:r>
              <a:rPr lang="en-US" sz="2000" dirty="0" err="1"/>
              <a:t>marrëveshjen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t’i</a:t>
            </a:r>
            <a:r>
              <a:rPr lang="en-US" sz="2000" dirty="0"/>
              <a:t> </a:t>
            </a:r>
            <a:r>
              <a:rPr lang="en-US" sz="2000" dirty="0" err="1"/>
              <a:t>paguar</a:t>
            </a:r>
            <a:r>
              <a:rPr lang="en-US" sz="2000" dirty="0"/>
              <a:t> </a:t>
            </a:r>
            <a:r>
              <a:rPr lang="en-US" sz="2000" dirty="0" err="1"/>
              <a:t>ato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datë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mëvonshme</a:t>
            </a:r>
            <a:r>
              <a:rPr lang="en-US" sz="2000" dirty="0"/>
              <a:t>. </a:t>
            </a:r>
            <a:r>
              <a:rPr lang="en-US" sz="2000" dirty="0" err="1"/>
              <a:t>Kjo</a:t>
            </a:r>
            <a:r>
              <a:rPr lang="en-US" sz="2000" dirty="0"/>
              <a:t> </a:t>
            </a:r>
            <a:r>
              <a:rPr lang="en-US" sz="2000" dirty="0" err="1"/>
              <a:t>lloj</a:t>
            </a:r>
            <a:r>
              <a:rPr lang="en-US" sz="2000" dirty="0"/>
              <a:t> </a:t>
            </a:r>
            <a:r>
              <a:rPr lang="en-US" sz="2000" dirty="0" err="1"/>
              <a:t>kredie</a:t>
            </a:r>
            <a:r>
              <a:rPr lang="en-US" sz="2000" dirty="0"/>
              <a:t> </a:t>
            </a:r>
            <a:r>
              <a:rPr lang="en-US" sz="2000" dirty="0" err="1"/>
              <a:t>zakonisht</a:t>
            </a:r>
            <a:r>
              <a:rPr lang="en-US" sz="2000" dirty="0"/>
              <a:t> </a:t>
            </a:r>
            <a:r>
              <a:rPr lang="en-US" sz="2000" dirty="0" err="1"/>
              <a:t>ofrohet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formën</a:t>
            </a:r>
            <a:r>
              <a:rPr lang="en-US" sz="2000" dirty="0"/>
              <a:t> e </a:t>
            </a:r>
            <a:r>
              <a:rPr lang="en-US" sz="2000" dirty="0" err="1"/>
              <a:t>kredisë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llogarive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hapura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e </a:t>
            </a:r>
            <a:r>
              <a:rPr lang="en-US" sz="2000" dirty="0" err="1"/>
              <a:t>zakonshme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transaksionet</a:t>
            </a:r>
            <a:r>
              <a:rPr lang="en-US" sz="2000" dirty="0"/>
              <a:t> B2B (</a:t>
            </a:r>
            <a:r>
              <a:rPr lang="en-US" sz="2000" dirty="0" err="1"/>
              <a:t>biznes</a:t>
            </a:r>
            <a:r>
              <a:rPr lang="en-US" sz="2000" dirty="0"/>
              <a:t> me </a:t>
            </a:r>
            <a:r>
              <a:rPr lang="en-US" sz="2000" dirty="0" err="1"/>
              <a:t>biznes</a:t>
            </a:r>
            <a:r>
              <a:rPr lang="en-US" sz="2000" dirty="0"/>
              <a:t>).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Karakteristikat</a:t>
            </a:r>
            <a:r>
              <a:rPr lang="en-US" sz="2000" b="1" dirty="0"/>
              <a:t> e </a:t>
            </a:r>
            <a:r>
              <a:rPr lang="en-US" sz="2000" b="1" dirty="0" err="1"/>
              <a:t>Kredisë</a:t>
            </a:r>
            <a:r>
              <a:rPr lang="en-US" sz="2000" b="1" dirty="0"/>
              <a:t> </a:t>
            </a:r>
            <a:r>
              <a:rPr lang="en-US" sz="2000" b="1" dirty="0" err="1"/>
              <a:t>Tregtare</a:t>
            </a:r>
            <a:r>
              <a:rPr lang="en-US" sz="2000" b="1" dirty="0"/>
              <a:t>:</a:t>
            </a:r>
          </a:p>
          <a:p>
            <a:pPr>
              <a:buNone/>
            </a:pPr>
            <a:r>
              <a:rPr lang="en-US" sz="2000" b="1" dirty="0" err="1"/>
              <a:t>Natyrë</a:t>
            </a:r>
            <a:r>
              <a:rPr lang="en-US" sz="2000" b="1" dirty="0"/>
              <a:t> </a:t>
            </a:r>
            <a:r>
              <a:rPr lang="en-US" sz="2000" b="1" dirty="0" err="1"/>
              <a:t>afatshkurtër</a:t>
            </a:r>
            <a:r>
              <a:rPr lang="en-US" sz="2000" b="1" dirty="0"/>
              <a:t>: </a:t>
            </a:r>
            <a:r>
              <a:rPr lang="en-US" sz="2000" dirty="0" err="1"/>
              <a:t>Zakonisht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periudha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shkurtra</a:t>
            </a:r>
            <a:r>
              <a:rPr lang="en-US" sz="2000" dirty="0"/>
              <a:t> </a:t>
            </a:r>
            <a:r>
              <a:rPr lang="en-US" sz="2000" dirty="0" err="1"/>
              <a:t>kohore</a:t>
            </a:r>
            <a:r>
              <a:rPr lang="en-US" sz="2000" dirty="0"/>
              <a:t>, </a:t>
            </a:r>
            <a:r>
              <a:rPr lang="en-US" sz="2000" dirty="0" err="1"/>
              <a:t>si</a:t>
            </a:r>
            <a:r>
              <a:rPr lang="en-US" sz="2000" dirty="0"/>
              <a:t> 30, 60, </a:t>
            </a:r>
            <a:r>
              <a:rPr lang="en-US" sz="2000" dirty="0" err="1"/>
              <a:t>ose</a:t>
            </a:r>
            <a:r>
              <a:rPr lang="en-US" sz="2000" dirty="0"/>
              <a:t> 90 </a:t>
            </a:r>
            <a:r>
              <a:rPr lang="en-US" sz="2000" dirty="0" err="1"/>
              <a:t>ditë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Pa </a:t>
            </a:r>
            <a:r>
              <a:rPr lang="en-US" sz="2000" b="1" dirty="0" err="1"/>
              <a:t>pagesë</a:t>
            </a:r>
            <a:r>
              <a:rPr lang="en-US" sz="2000" b="1" dirty="0"/>
              <a:t> </a:t>
            </a:r>
            <a:r>
              <a:rPr lang="en-US" sz="2000" b="1" dirty="0" err="1"/>
              <a:t>të</a:t>
            </a:r>
            <a:r>
              <a:rPr lang="en-US" sz="2000" b="1" dirty="0"/>
              <a:t> </a:t>
            </a:r>
            <a:r>
              <a:rPr lang="en-US" sz="2000" b="1" dirty="0" err="1"/>
              <a:t>menjëhershme</a:t>
            </a:r>
            <a:r>
              <a:rPr lang="en-US" sz="2000" b="1" dirty="0"/>
              <a:t>: </a:t>
            </a:r>
            <a:r>
              <a:rPr lang="en-US" sz="2000" dirty="0" err="1"/>
              <a:t>Blerësi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marrë</a:t>
            </a:r>
            <a:r>
              <a:rPr lang="en-US" sz="2000" dirty="0"/>
              <a:t> </a:t>
            </a:r>
            <a:r>
              <a:rPr lang="en-US" sz="2000" dirty="0" err="1"/>
              <a:t>dorëzimin</a:t>
            </a:r>
            <a:r>
              <a:rPr lang="en-US" sz="2000" dirty="0"/>
              <a:t> e </a:t>
            </a:r>
            <a:r>
              <a:rPr lang="en-US" sz="2000" dirty="0" err="1"/>
              <a:t>mallrave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shërbimeve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shtyjë</a:t>
            </a:r>
            <a:r>
              <a:rPr lang="en-US" sz="2000" dirty="0"/>
              <a:t> </a:t>
            </a:r>
            <a:r>
              <a:rPr lang="en-US" sz="2000" dirty="0" err="1"/>
              <a:t>pagesën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E </a:t>
            </a:r>
            <a:r>
              <a:rPr lang="en-US" sz="2000" b="1" dirty="0" err="1"/>
              <a:t>përdorur</a:t>
            </a:r>
            <a:r>
              <a:rPr lang="en-US" sz="2000" b="1" dirty="0"/>
              <a:t> </a:t>
            </a:r>
            <a:r>
              <a:rPr lang="en-US" sz="2000" b="1" dirty="0" err="1"/>
              <a:t>për</a:t>
            </a:r>
            <a:r>
              <a:rPr lang="en-US" sz="2000" b="1" dirty="0"/>
              <a:t> </a:t>
            </a:r>
            <a:r>
              <a:rPr lang="en-US" sz="2000" b="1" dirty="0" err="1"/>
              <a:t>qëllime</a:t>
            </a:r>
            <a:r>
              <a:rPr lang="en-US" sz="2000" b="1" dirty="0"/>
              <a:t> </a:t>
            </a:r>
            <a:r>
              <a:rPr lang="en-US" sz="2000" b="1" dirty="0" err="1"/>
              <a:t>operacionale</a:t>
            </a:r>
            <a:r>
              <a:rPr lang="en-US" sz="2000" b="1" dirty="0"/>
              <a:t>: </a:t>
            </a:r>
            <a:r>
              <a:rPr lang="en-US" sz="2000" dirty="0" err="1"/>
              <a:t>Bizneset</a:t>
            </a:r>
            <a:r>
              <a:rPr lang="en-US" sz="2000" dirty="0"/>
              <a:t> e </a:t>
            </a:r>
            <a:r>
              <a:rPr lang="en-US" sz="2000" dirty="0" err="1"/>
              <a:t>përdorin</a:t>
            </a:r>
            <a:r>
              <a:rPr lang="en-US" sz="2000" dirty="0"/>
              <a:t> </a:t>
            </a:r>
            <a:r>
              <a:rPr lang="en-US" sz="2000" dirty="0" err="1"/>
              <a:t>kredinë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menaxhuar</a:t>
            </a:r>
            <a:r>
              <a:rPr lang="en-US" sz="2000" dirty="0"/>
              <a:t> </a:t>
            </a:r>
            <a:r>
              <a:rPr lang="en-US" sz="2000" dirty="0" err="1"/>
              <a:t>fluksin</a:t>
            </a:r>
            <a:r>
              <a:rPr lang="en-US" sz="2000" dirty="0"/>
              <a:t> e </a:t>
            </a:r>
            <a:r>
              <a:rPr lang="en-US" sz="2000" dirty="0" err="1"/>
              <a:t>parasë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inventarin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KREDI TREGTARE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None/>
            </a:pPr>
            <a:r>
              <a:rPr lang="en-US" sz="2000" b="1" dirty="0" err="1"/>
              <a:t>Shembull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 </a:t>
            </a:r>
            <a:r>
              <a:rPr lang="en-US" sz="2000" b="1" dirty="0" err="1"/>
              <a:t>Kredisë</a:t>
            </a:r>
            <a:r>
              <a:rPr lang="en-US" sz="2000" b="1" dirty="0"/>
              <a:t> </a:t>
            </a:r>
            <a:r>
              <a:rPr lang="en-US" sz="2000" b="1" dirty="0" err="1"/>
              <a:t>Tregtare</a:t>
            </a:r>
            <a:r>
              <a:rPr lang="en-US" sz="2000" b="1" dirty="0"/>
              <a:t>:</a:t>
            </a:r>
          </a:p>
          <a:p>
            <a:pPr>
              <a:buNone/>
            </a:pPr>
            <a:r>
              <a:rPr lang="en-US" sz="2000" dirty="0" err="1"/>
              <a:t>Skenar</a:t>
            </a:r>
            <a:r>
              <a:rPr lang="en-US" sz="2000" dirty="0"/>
              <a:t>:</a:t>
            </a:r>
          </a:p>
          <a:p>
            <a:pPr>
              <a:buNone/>
            </a:pP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, Furniture World Ltd., </a:t>
            </a:r>
            <a:r>
              <a:rPr lang="en-US" sz="2000" dirty="0" err="1"/>
              <a:t>furnizon</a:t>
            </a:r>
            <a:r>
              <a:rPr lang="en-US" sz="2000" dirty="0"/>
              <a:t> </a:t>
            </a:r>
            <a:r>
              <a:rPr lang="en-US" sz="2000" dirty="0" err="1"/>
              <a:t>mobilje</a:t>
            </a:r>
            <a:r>
              <a:rPr lang="en-US" sz="2000" dirty="0"/>
              <a:t> </a:t>
            </a:r>
            <a:r>
              <a:rPr lang="en-US" sz="2000" dirty="0" err="1"/>
              <a:t>zyre</a:t>
            </a:r>
            <a:r>
              <a:rPr lang="en-US" sz="2000" dirty="0"/>
              <a:t>.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 </a:t>
            </a:r>
            <a:r>
              <a:rPr lang="en-US" sz="2000" dirty="0" err="1"/>
              <a:t>tjetër</a:t>
            </a:r>
            <a:r>
              <a:rPr lang="en-US" sz="2000" dirty="0"/>
              <a:t>, TechZone Inc., </a:t>
            </a:r>
            <a:r>
              <a:rPr lang="en-US" sz="2000" dirty="0" err="1"/>
              <a:t>porosit</a:t>
            </a:r>
            <a:r>
              <a:rPr lang="en-US" sz="2000" dirty="0"/>
              <a:t> </a:t>
            </a:r>
            <a:r>
              <a:rPr lang="en-US" sz="2000" dirty="0" err="1"/>
              <a:t>mobilje</a:t>
            </a:r>
            <a:r>
              <a:rPr lang="en-US" sz="2000" dirty="0"/>
              <a:t> </a:t>
            </a:r>
            <a:r>
              <a:rPr lang="en-US" sz="2000" dirty="0" err="1"/>
              <a:t>zyre</a:t>
            </a:r>
            <a:r>
              <a:rPr lang="en-US" sz="2000" dirty="0"/>
              <a:t> (</a:t>
            </a:r>
            <a:r>
              <a:rPr lang="en-US" sz="2000" dirty="0" err="1"/>
              <a:t>tryeza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karrige</a:t>
            </a:r>
            <a:r>
              <a:rPr lang="en-US" sz="2000" dirty="0"/>
              <a:t>) me </a:t>
            </a:r>
            <a:r>
              <a:rPr lang="en-US" sz="2000" dirty="0" err="1"/>
              <a:t>vlerë</a:t>
            </a:r>
            <a:r>
              <a:rPr lang="en-US" sz="2000" dirty="0"/>
              <a:t> $50,000 </a:t>
            </a:r>
            <a:r>
              <a:rPr lang="en-US" sz="2000" dirty="0" err="1"/>
              <a:t>nga</a:t>
            </a:r>
            <a:r>
              <a:rPr lang="en-US" sz="2000" dirty="0"/>
              <a:t> Furniture World.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Kushtet</a:t>
            </a:r>
            <a:r>
              <a:rPr lang="en-US" sz="2000" b="1" dirty="0"/>
              <a:t> e </a:t>
            </a:r>
            <a:r>
              <a:rPr lang="en-US" sz="2000" b="1" dirty="0" err="1"/>
              <a:t>Kredisë</a:t>
            </a:r>
            <a:r>
              <a:rPr lang="en-US" sz="2000" b="1" dirty="0"/>
              <a:t>:</a:t>
            </a:r>
          </a:p>
          <a:p>
            <a:pPr>
              <a:buNone/>
            </a:pPr>
            <a:r>
              <a:rPr lang="en-US" sz="2000" dirty="0" err="1"/>
              <a:t>Pagesa</a:t>
            </a:r>
            <a:r>
              <a:rPr lang="en-US" sz="2000" dirty="0"/>
              <a:t> </a:t>
            </a:r>
            <a:r>
              <a:rPr lang="en-US" sz="2000" dirty="0" err="1"/>
              <a:t>duhet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kryhet</a:t>
            </a:r>
            <a:r>
              <a:rPr lang="en-US" sz="2000" dirty="0"/>
              <a:t> </a:t>
            </a:r>
            <a:r>
              <a:rPr lang="en-US" sz="2000" dirty="0" err="1"/>
              <a:t>brenda</a:t>
            </a:r>
            <a:r>
              <a:rPr lang="en-US" sz="2000" dirty="0"/>
              <a:t> 60 </a:t>
            </a:r>
            <a:r>
              <a:rPr lang="en-US" sz="2000" dirty="0" err="1"/>
              <a:t>ditëve</a:t>
            </a:r>
            <a:r>
              <a:rPr lang="en-US" sz="2000" dirty="0"/>
              <a:t> (</a:t>
            </a:r>
            <a:r>
              <a:rPr lang="en-US" sz="2000" dirty="0" err="1"/>
              <a:t>kushtet</a:t>
            </a:r>
            <a:r>
              <a:rPr lang="en-US" sz="2000" dirty="0"/>
              <a:t> neto-60).</a:t>
            </a:r>
          </a:p>
          <a:p>
            <a:pPr>
              <a:buNone/>
            </a:pPr>
            <a:r>
              <a:rPr lang="en-US" sz="2000" dirty="0" err="1"/>
              <a:t>Nëse</a:t>
            </a:r>
            <a:r>
              <a:rPr lang="en-US" sz="2000" dirty="0"/>
              <a:t> TechZone </a:t>
            </a:r>
            <a:r>
              <a:rPr lang="en-US" sz="2000" dirty="0" err="1"/>
              <a:t>paguan</a:t>
            </a:r>
            <a:r>
              <a:rPr lang="en-US" sz="2000" dirty="0"/>
              <a:t> </a:t>
            </a:r>
            <a:r>
              <a:rPr lang="en-US" sz="2000" dirty="0" err="1"/>
              <a:t>brenda</a:t>
            </a:r>
            <a:r>
              <a:rPr lang="en-US" sz="2000" dirty="0"/>
              <a:t> 10 </a:t>
            </a:r>
            <a:r>
              <a:rPr lang="en-US" sz="2000" dirty="0" err="1"/>
              <a:t>ditëve</a:t>
            </a:r>
            <a:r>
              <a:rPr lang="en-US" sz="2000" dirty="0"/>
              <a:t>, </a:t>
            </a:r>
            <a:r>
              <a:rPr lang="en-US" sz="2000" dirty="0" err="1"/>
              <a:t>ata</a:t>
            </a:r>
            <a:r>
              <a:rPr lang="en-US" sz="2000" dirty="0"/>
              <a:t> </a:t>
            </a:r>
            <a:r>
              <a:rPr lang="en-US" sz="2000" dirty="0" err="1"/>
              <a:t>përfitojnë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zbritje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2%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shumën</a:t>
            </a:r>
            <a:r>
              <a:rPr lang="en-US" sz="2000" dirty="0"/>
              <a:t> </a:t>
            </a:r>
            <a:r>
              <a:rPr lang="en-US" sz="2000" dirty="0" err="1"/>
              <a:t>totale</a:t>
            </a:r>
            <a:r>
              <a:rPr lang="en-US" sz="2000" dirty="0"/>
              <a:t> (2/10 neto-60).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Procesi</a:t>
            </a:r>
            <a:r>
              <a:rPr lang="en-US" sz="2000" b="1" dirty="0"/>
              <a:t>:</a:t>
            </a:r>
          </a:p>
          <a:p>
            <a:pPr>
              <a:buNone/>
            </a:pPr>
            <a:r>
              <a:rPr lang="en-US" sz="2000" dirty="0"/>
              <a:t>Furniture World </a:t>
            </a:r>
            <a:r>
              <a:rPr lang="en-US" sz="2000" dirty="0" err="1"/>
              <a:t>dorëzon</a:t>
            </a:r>
            <a:r>
              <a:rPr lang="en-US" sz="2000" dirty="0"/>
              <a:t> </a:t>
            </a:r>
            <a:r>
              <a:rPr lang="en-US" sz="2000" dirty="0" err="1"/>
              <a:t>mobiljet</a:t>
            </a:r>
            <a:r>
              <a:rPr lang="en-US" sz="2000" dirty="0"/>
              <a:t> </a:t>
            </a:r>
            <a:r>
              <a:rPr lang="en-US" sz="2000" dirty="0" err="1"/>
              <a:t>tek</a:t>
            </a:r>
            <a:r>
              <a:rPr lang="en-US" sz="2000" dirty="0"/>
              <a:t> TechZone pa </a:t>
            </a:r>
            <a:r>
              <a:rPr lang="en-US" sz="2000" dirty="0" err="1"/>
              <a:t>kërkuar</a:t>
            </a:r>
            <a:r>
              <a:rPr lang="en-US" sz="2000" dirty="0"/>
              <a:t> </a:t>
            </a:r>
            <a:r>
              <a:rPr lang="en-US" sz="2000" dirty="0" err="1"/>
              <a:t>pagesë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menjëhershme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TechZone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përdor</a:t>
            </a:r>
            <a:r>
              <a:rPr lang="en-US" sz="2000" dirty="0"/>
              <a:t> </a:t>
            </a:r>
            <a:r>
              <a:rPr lang="en-US" sz="2000" dirty="0" err="1"/>
              <a:t>mobiljet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operacionet</a:t>
            </a:r>
            <a:r>
              <a:rPr lang="en-US" sz="2000" dirty="0"/>
              <a:t> e </a:t>
            </a:r>
            <a:r>
              <a:rPr lang="en-US" sz="2000" dirty="0" err="1"/>
              <a:t>saj</a:t>
            </a:r>
            <a:r>
              <a:rPr lang="en-US" sz="2000" dirty="0"/>
              <a:t> duke </a:t>
            </a:r>
            <a:r>
              <a:rPr lang="en-US" sz="2000" dirty="0" err="1"/>
              <a:t>planifikuar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paguajë</a:t>
            </a:r>
            <a:r>
              <a:rPr lang="en-US" sz="2000" dirty="0"/>
              <a:t> </a:t>
            </a:r>
            <a:r>
              <a:rPr lang="en-US" sz="2000" dirty="0" err="1"/>
              <a:t>brenda</a:t>
            </a:r>
            <a:r>
              <a:rPr lang="en-US" sz="2000" dirty="0"/>
              <a:t> </a:t>
            </a:r>
            <a:r>
              <a:rPr lang="en-US" sz="2000" dirty="0" err="1"/>
              <a:t>periudhës</a:t>
            </a:r>
            <a:r>
              <a:rPr lang="en-US" sz="2000" dirty="0"/>
              <a:t> </a:t>
            </a:r>
            <a:r>
              <a:rPr lang="en-US" sz="2000" dirty="0" err="1"/>
              <a:t>së</a:t>
            </a:r>
            <a:r>
              <a:rPr lang="en-US" sz="2000" dirty="0"/>
              <a:t> </a:t>
            </a:r>
            <a:r>
              <a:rPr lang="en-US" sz="2000" dirty="0" err="1"/>
              <a:t>dakorduar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60 </a:t>
            </a:r>
            <a:r>
              <a:rPr lang="en-US" sz="2000" dirty="0" err="1"/>
              <a:t>ditësh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 err="1"/>
              <a:t>Nëse</a:t>
            </a:r>
            <a:r>
              <a:rPr lang="en-US" sz="2000" dirty="0"/>
              <a:t> TechZone </a:t>
            </a:r>
            <a:r>
              <a:rPr lang="en-US" sz="2000" dirty="0" err="1"/>
              <a:t>paguan</a:t>
            </a:r>
            <a:r>
              <a:rPr lang="en-US" sz="2000" dirty="0"/>
              <a:t> </a:t>
            </a:r>
            <a:r>
              <a:rPr lang="en-US" sz="2000" dirty="0" err="1"/>
              <a:t>brenda</a:t>
            </a:r>
            <a:r>
              <a:rPr lang="en-US" sz="2000" dirty="0"/>
              <a:t> 10 </a:t>
            </a:r>
            <a:r>
              <a:rPr lang="en-US" sz="2000" dirty="0" err="1"/>
              <a:t>ditëve</a:t>
            </a:r>
            <a:r>
              <a:rPr lang="en-US" sz="2000" dirty="0"/>
              <a:t>, </a:t>
            </a:r>
            <a:r>
              <a:rPr lang="en-US" sz="2000" dirty="0" err="1"/>
              <a:t>ata</a:t>
            </a:r>
            <a:r>
              <a:rPr lang="en-US" sz="2000" dirty="0"/>
              <a:t> </a:t>
            </a:r>
            <a:r>
              <a:rPr lang="en-US" sz="2000" dirty="0" err="1"/>
              <a:t>paguajnë</a:t>
            </a:r>
            <a:r>
              <a:rPr lang="en-US" sz="2000" dirty="0"/>
              <a:t> $49,000 </a:t>
            </a:r>
            <a:r>
              <a:rPr lang="en-US" sz="2000" dirty="0" err="1"/>
              <a:t>në</a:t>
            </a:r>
            <a:r>
              <a:rPr lang="en-US" sz="2000" dirty="0"/>
              <a:t> vend </a:t>
            </a:r>
            <a:r>
              <a:rPr lang="en-US" sz="2000" dirty="0" err="1"/>
              <a:t>të</a:t>
            </a:r>
            <a:r>
              <a:rPr lang="en-US" sz="2000" dirty="0"/>
              <a:t> $50,000 (</a:t>
            </a:r>
            <a:r>
              <a:rPr lang="en-US" sz="2000" dirty="0" err="1"/>
              <a:t>zbritje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2%).</a:t>
            </a:r>
          </a:p>
        </p:txBody>
      </p:sp>
    </p:spTree>
    <p:extLst>
      <p:ext uri="{BB962C8B-B14F-4D97-AF65-F5344CB8AC3E}">
        <p14:creationId xmlns:p14="http://schemas.microsoft.com/office/powerpoint/2010/main" val="285866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KREDI TREGTARE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>
              <a:buNone/>
            </a:pPr>
            <a:r>
              <a:rPr lang="en-US" sz="2000" dirty="0" err="1"/>
              <a:t>Përfitimet</a:t>
            </a:r>
            <a:r>
              <a:rPr lang="en-US" sz="2000" dirty="0"/>
              <a:t> e </a:t>
            </a:r>
            <a:r>
              <a:rPr lang="en-US" sz="2000" dirty="0" err="1"/>
              <a:t>Kredisë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r>
              <a:rPr lang="en-US" sz="2000" dirty="0"/>
              <a:t>: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Për</a:t>
            </a:r>
            <a:r>
              <a:rPr lang="en-US" sz="2000" b="1" dirty="0"/>
              <a:t> </a:t>
            </a:r>
            <a:r>
              <a:rPr lang="en-US" sz="2000" b="1" dirty="0" err="1"/>
              <a:t>blerësin</a:t>
            </a:r>
            <a:r>
              <a:rPr lang="en-US" sz="2000" b="1" dirty="0"/>
              <a:t>: </a:t>
            </a:r>
            <a:r>
              <a:rPr lang="en-US" sz="2000" dirty="0"/>
              <a:t>U </a:t>
            </a:r>
            <a:r>
              <a:rPr lang="en-US" sz="2000" dirty="0" err="1"/>
              <a:t>mundëson</a:t>
            </a:r>
            <a:r>
              <a:rPr lang="en-US" sz="2000" dirty="0"/>
              <a:t> </a:t>
            </a:r>
            <a:r>
              <a:rPr lang="en-US" sz="2000" dirty="0" err="1"/>
              <a:t>atyre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përdorin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shesin</a:t>
            </a:r>
            <a:r>
              <a:rPr lang="en-US" sz="2000" dirty="0"/>
              <a:t> mallrat e </a:t>
            </a:r>
            <a:r>
              <a:rPr lang="en-US" sz="2000" dirty="0" err="1"/>
              <a:t>blera</a:t>
            </a:r>
            <a:r>
              <a:rPr lang="en-US" sz="2000" dirty="0"/>
              <a:t> </a:t>
            </a:r>
            <a:r>
              <a:rPr lang="en-US" sz="2000" dirty="0" err="1"/>
              <a:t>përpara</a:t>
            </a:r>
            <a:r>
              <a:rPr lang="en-US" sz="2000" dirty="0"/>
              <a:t> se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jetë</a:t>
            </a:r>
            <a:r>
              <a:rPr lang="en-US" sz="2000" dirty="0"/>
              <a:t> </a:t>
            </a:r>
            <a:r>
              <a:rPr lang="en-US" sz="2000" dirty="0" err="1"/>
              <a:t>afati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pagesës</a:t>
            </a:r>
            <a:r>
              <a:rPr lang="en-US" sz="2000" dirty="0"/>
              <a:t>, duke </a:t>
            </a:r>
            <a:r>
              <a:rPr lang="en-US" sz="2000" dirty="0" err="1"/>
              <a:t>ndihmuar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menaxhimin</a:t>
            </a:r>
            <a:r>
              <a:rPr lang="en-US" sz="2000" dirty="0"/>
              <a:t> e </a:t>
            </a:r>
            <a:r>
              <a:rPr lang="en-US" sz="2000" dirty="0" err="1"/>
              <a:t>fluksit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parasë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Për</a:t>
            </a:r>
            <a:r>
              <a:rPr lang="en-US" sz="2000" b="1" dirty="0"/>
              <a:t> </a:t>
            </a:r>
            <a:r>
              <a:rPr lang="en-US" sz="2000" b="1" dirty="0" err="1"/>
              <a:t>shitësin</a:t>
            </a:r>
            <a:r>
              <a:rPr lang="en-US" sz="2000" b="1" dirty="0"/>
              <a:t>: </a:t>
            </a:r>
            <a:r>
              <a:rPr lang="en-US" sz="2000" dirty="0" err="1"/>
              <a:t>Nxit</a:t>
            </a:r>
            <a:r>
              <a:rPr lang="en-US" sz="2000" dirty="0"/>
              <a:t> </a:t>
            </a:r>
            <a:r>
              <a:rPr lang="en-US" sz="2000" dirty="0" err="1"/>
              <a:t>porosi</a:t>
            </a:r>
            <a:r>
              <a:rPr lang="en-US" sz="2000" dirty="0"/>
              <a:t> </a:t>
            </a:r>
            <a:r>
              <a:rPr lang="en-US" sz="2000" dirty="0" err="1"/>
              <a:t>më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mëdha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ndërton</a:t>
            </a:r>
            <a:r>
              <a:rPr lang="en-US" sz="2000" dirty="0"/>
              <a:t> </a:t>
            </a:r>
            <a:r>
              <a:rPr lang="en-US" sz="2000" dirty="0" err="1"/>
              <a:t>besnikërinë</a:t>
            </a:r>
            <a:r>
              <a:rPr lang="en-US" sz="2000" dirty="0"/>
              <a:t> e </a:t>
            </a:r>
            <a:r>
              <a:rPr lang="en-US" sz="2000" dirty="0" err="1"/>
              <a:t>klientit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 err="1"/>
              <a:t>Për</a:t>
            </a:r>
            <a:r>
              <a:rPr lang="en-US" sz="2000" b="1" dirty="0"/>
              <a:t> </a:t>
            </a:r>
            <a:r>
              <a:rPr lang="en-US" sz="2000" b="1" dirty="0" err="1"/>
              <a:t>të</a:t>
            </a:r>
            <a:r>
              <a:rPr lang="en-US" sz="2000" b="1" dirty="0"/>
              <a:t> </a:t>
            </a:r>
            <a:r>
              <a:rPr lang="en-US" sz="2000" b="1" dirty="0" err="1"/>
              <a:t>dyja</a:t>
            </a:r>
            <a:r>
              <a:rPr lang="en-US" sz="2000" b="1" dirty="0"/>
              <a:t> </a:t>
            </a:r>
            <a:r>
              <a:rPr lang="en-US" sz="2000" b="1" dirty="0" err="1"/>
              <a:t>palët</a:t>
            </a:r>
            <a:r>
              <a:rPr lang="en-US" sz="2000" b="1" dirty="0"/>
              <a:t>: </a:t>
            </a:r>
            <a:r>
              <a:rPr lang="en-US" sz="2000" dirty="0" err="1"/>
              <a:t>Lehtëson</a:t>
            </a:r>
            <a:r>
              <a:rPr lang="en-US" sz="2000" dirty="0"/>
              <a:t> </a:t>
            </a:r>
            <a:r>
              <a:rPr lang="en-US" sz="2000" dirty="0" err="1"/>
              <a:t>operacione</a:t>
            </a:r>
            <a:r>
              <a:rPr lang="en-US" sz="2000" dirty="0"/>
              <a:t> </a:t>
            </a:r>
            <a:r>
              <a:rPr lang="en-US" sz="2000" dirty="0" err="1"/>
              <a:t>më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qeta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forcon</a:t>
            </a:r>
            <a:r>
              <a:rPr lang="en-US" sz="2000" dirty="0"/>
              <a:t> </a:t>
            </a:r>
            <a:r>
              <a:rPr lang="en-US" sz="2000" dirty="0" err="1"/>
              <a:t>marrëdhëniet</a:t>
            </a:r>
            <a:r>
              <a:rPr lang="en-US" sz="2000" dirty="0"/>
              <a:t> e </a:t>
            </a:r>
            <a:r>
              <a:rPr lang="en-US" sz="2000" dirty="0" err="1"/>
              <a:t>biznesit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këtë</a:t>
            </a:r>
            <a:r>
              <a:rPr lang="en-US" sz="2000" dirty="0"/>
              <a:t> </a:t>
            </a:r>
            <a:r>
              <a:rPr lang="en-US" sz="2000" dirty="0" err="1"/>
              <a:t>shembull</a:t>
            </a:r>
            <a:r>
              <a:rPr lang="en-US" sz="2000" dirty="0"/>
              <a:t>, Furniture World Ltd.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ofron</a:t>
            </a:r>
            <a:r>
              <a:rPr lang="en-US" sz="2000" dirty="0"/>
              <a:t> </a:t>
            </a:r>
            <a:r>
              <a:rPr lang="en-US" sz="2000" dirty="0" err="1"/>
              <a:t>kredi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r>
              <a:rPr lang="en-US" sz="2000" dirty="0"/>
              <a:t> </a:t>
            </a:r>
            <a:r>
              <a:rPr lang="en-US" sz="2000" dirty="0" err="1"/>
              <a:t>kompanisë</a:t>
            </a:r>
            <a:r>
              <a:rPr lang="en-US" sz="2000" dirty="0"/>
              <a:t> TechZone Inc., duke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mundësuar</a:t>
            </a:r>
            <a:r>
              <a:rPr lang="en-US" sz="2000" dirty="0"/>
              <a:t> TechZone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shtyjë</a:t>
            </a:r>
            <a:r>
              <a:rPr lang="en-US" sz="2000" dirty="0"/>
              <a:t> </a:t>
            </a:r>
            <a:r>
              <a:rPr lang="en-US" sz="2000" dirty="0" err="1"/>
              <a:t>pagesën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60 </a:t>
            </a:r>
            <a:r>
              <a:rPr lang="en-US" sz="2000" dirty="0" err="1"/>
              <a:t>ditë</a:t>
            </a:r>
            <a:r>
              <a:rPr lang="en-US" sz="2000" dirty="0"/>
              <a:t> </a:t>
            </a:r>
            <a:r>
              <a:rPr lang="en-US" sz="2000" dirty="0" err="1"/>
              <a:t>ndërkohë</a:t>
            </a:r>
            <a:r>
              <a:rPr lang="en-US" sz="2000" dirty="0"/>
              <a:t> </a:t>
            </a:r>
            <a:r>
              <a:rPr lang="en-US" sz="2000" dirty="0" err="1"/>
              <a:t>që</a:t>
            </a:r>
            <a:r>
              <a:rPr lang="en-US" sz="2000" dirty="0"/>
              <a:t> </a:t>
            </a:r>
            <a:r>
              <a:rPr lang="en-US" sz="2000" dirty="0" err="1"/>
              <a:t>ruan</a:t>
            </a:r>
            <a:r>
              <a:rPr lang="en-US" sz="2000" dirty="0"/>
              <a:t> </a:t>
            </a:r>
            <a:r>
              <a:rPr lang="en-US" sz="2000" dirty="0" err="1"/>
              <a:t>efikasitetin</a:t>
            </a:r>
            <a:r>
              <a:rPr lang="en-US" sz="2000" dirty="0"/>
              <a:t> </a:t>
            </a:r>
            <a:r>
              <a:rPr lang="en-US" sz="2000" dirty="0" err="1"/>
              <a:t>operacional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8041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KREDI TREGTARE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US" sz="2000" dirty="0" err="1"/>
              <a:t>Kufizimet</a:t>
            </a:r>
            <a:endParaRPr lang="en-US" sz="2000" dirty="0"/>
          </a:p>
          <a:p>
            <a:pPr>
              <a:buNone/>
            </a:pPr>
            <a:endParaRPr lang="en-US" sz="2000" dirty="0"/>
          </a:p>
          <a:p>
            <a:pPr lvl="0"/>
            <a:r>
              <a:rPr lang="en-US" sz="2000" dirty="0" err="1"/>
              <a:t>Disponueshmëria</a:t>
            </a:r>
            <a:r>
              <a:rPr lang="en-US" sz="2000" dirty="0"/>
              <a:t> e </a:t>
            </a:r>
            <a:r>
              <a:rPr lang="en-US" sz="2000" dirty="0" err="1"/>
              <a:t>lehtësive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thjeshta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fleksibël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kredisë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ta</a:t>
            </a:r>
            <a:r>
              <a:rPr lang="en-US" sz="2000" dirty="0"/>
              <a:t> </a:t>
            </a:r>
            <a:r>
              <a:rPr lang="en-US" sz="2000" dirty="0" err="1"/>
              <a:t>shtyjë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firmë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kënaqet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mbitregtimin</a:t>
            </a:r>
            <a:r>
              <a:rPr lang="en-US" sz="2000" dirty="0"/>
              <a:t>, </a:t>
            </a:r>
            <a:r>
              <a:rPr lang="en-US" sz="2000" dirty="0" err="1"/>
              <a:t>gjë</a:t>
            </a:r>
            <a:r>
              <a:rPr lang="en-US" sz="2000" dirty="0"/>
              <a:t> </a:t>
            </a:r>
            <a:r>
              <a:rPr lang="en-US" sz="2000" dirty="0" err="1"/>
              <a:t>që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rrisë</a:t>
            </a:r>
            <a:r>
              <a:rPr lang="en-US" sz="2000" dirty="0"/>
              <a:t> </a:t>
            </a:r>
            <a:r>
              <a:rPr lang="en-US" sz="2000" dirty="0" err="1"/>
              <a:t>rrezikun</a:t>
            </a:r>
            <a:r>
              <a:rPr lang="en-US" sz="2000" dirty="0"/>
              <a:t> e </a:t>
            </a:r>
            <a:r>
              <a:rPr lang="en-US" sz="2000" dirty="0" err="1"/>
              <a:t>firmës</a:t>
            </a:r>
            <a:r>
              <a:rPr lang="en-US" sz="2000" dirty="0"/>
              <a:t>.</a:t>
            </a:r>
          </a:p>
          <a:p>
            <a:pPr lvl="0"/>
            <a:r>
              <a:rPr lang="en-US" sz="2000" dirty="0" err="1"/>
              <a:t>Vetëm</a:t>
            </a:r>
            <a:r>
              <a:rPr lang="en-US" sz="2000" dirty="0"/>
              <a:t> </a:t>
            </a:r>
            <a:r>
              <a:rPr lang="en-US" sz="2000" dirty="0" err="1"/>
              <a:t>sasi</a:t>
            </a:r>
            <a:r>
              <a:rPr lang="en-US" sz="2000" dirty="0"/>
              <a:t> e </a:t>
            </a:r>
            <a:r>
              <a:rPr lang="en-US" sz="2000" dirty="0" err="1"/>
              <a:t>kufizuar</a:t>
            </a:r>
            <a:r>
              <a:rPr lang="en-US" sz="2000" dirty="0"/>
              <a:t> e </a:t>
            </a:r>
            <a:r>
              <a:rPr lang="en-US" sz="2000" dirty="0" err="1"/>
              <a:t>fondeve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gjenerohet</a:t>
            </a:r>
            <a:r>
              <a:rPr lang="en-US" sz="2000" dirty="0"/>
              <a:t> </a:t>
            </a:r>
            <a:r>
              <a:rPr lang="en-US" sz="2000" dirty="0" err="1"/>
              <a:t>përmes</a:t>
            </a:r>
            <a:r>
              <a:rPr lang="en-US" sz="2000" dirty="0"/>
              <a:t> </a:t>
            </a:r>
            <a:r>
              <a:rPr lang="en-US" sz="2000" dirty="0" err="1"/>
              <a:t>kredisë</a:t>
            </a:r>
            <a:r>
              <a:rPr lang="en-US" sz="2000" dirty="0"/>
              <a:t> </a:t>
            </a:r>
            <a:r>
              <a:rPr lang="en-US" sz="2000" dirty="0" err="1"/>
              <a:t>tregtare</a:t>
            </a:r>
            <a:endParaRPr lang="en-US" sz="2000" dirty="0"/>
          </a:p>
          <a:p>
            <a:pPr lvl="0"/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përgjithësi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burim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kushtueshëm</a:t>
            </a:r>
            <a:r>
              <a:rPr lang="en-US" sz="2000" dirty="0"/>
              <a:t> </a:t>
            </a:r>
            <a:r>
              <a:rPr lang="en-US" sz="2000" dirty="0" err="1"/>
              <a:t>fondesh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krahasim</a:t>
            </a:r>
            <a:r>
              <a:rPr lang="en-US" sz="2000" dirty="0"/>
              <a:t> me </a:t>
            </a:r>
            <a:r>
              <a:rPr lang="en-US" sz="2000" dirty="0" err="1"/>
              <a:t>shumicën</a:t>
            </a:r>
            <a:r>
              <a:rPr lang="en-US" sz="2000" dirty="0"/>
              <a:t> e </a:t>
            </a:r>
            <a:r>
              <a:rPr lang="en-US" sz="2000" dirty="0" err="1"/>
              <a:t>burimeve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tjera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mbledhjes</a:t>
            </a:r>
            <a:r>
              <a:rPr lang="en-US" sz="2000" dirty="0"/>
              <a:t> </a:t>
            </a:r>
            <a:r>
              <a:rPr lang="en-US" sz="2000" dirty="0" err="1"/>
              <a:t>së</a:t>
            </a:r>
            <a:r>
              <a:rPr lang="en-US" sz="2000" dirty="0"/>
              <a:t> </a:t>
            </a:r>
            <a:r>
              <a:rPr lang="en-US" sz="2000" dirty="0" err="1"/>
              <a:t>parave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FAKTORINGU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en-US" sz="2000" dirty="0" err="1"/>
              <a:t>Faktoringu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marrëveshje</a:t>
            </a:r>
            <a:r>
              <a:rPr lang="en-US" sz="2000" dirty="0"/>
              <a:t> </a:t>
            </a:r>
            <a:r>
              <a:rPr lang="en-US" sz="2000" dirty="0" err="1"/>
              <a:t>financiare</a:t>
            </a:r>
            <a:r>
              <a:rPr lang="en-US" sz="2000" dirty="0"/>
              <a:t> </a:t>
            </a:r>
            <a:r>
              <a:rPr lang="en-US" sz="2000" dirty="0" err="1"/>
              <a:t>ku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biznes</a:t>
            </a:r>
            <a:r>
              <a:rPr lang="en-US" sz="2000" dirty="0"/>
              <a:t> </a:t>
            </a:r>
            <a:r>
              <a:rPr lang="en-US" sz="2000" dirty="0" err="1"/>
              <a:t>shet</a:t>
            </a:r>
            <a:r>
              <a:rPr lang="en-US" sz="2000" dirty="0"/>
              <a:t> </a:t>
            </a:r>
            <a:r>
              <a:rPr lang="en-US" sz="2000" dirty="0" err="1"/>
              <a:t>llogaritë</a:t>
            </a:r>
            <a:r>
              <a:rPr lang="en-US" sz="2000" dirty="0"/>
              <a:t> e </a:t>
            </a:r>
            <a:r>
              <a:rPr lang="en-US" sz="2000" dirty="0" err="1"/>
              <a:t>tij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arkëtueshme</a:t>
            </a:r>
            <a:r>
              <a:rPr lang="en-US" sz="2000" dirty="0"/>
              <a:t> (</a:t>
            </a:r>
            <a:r>
              <a:rPr lang="en-US" sz="2000" dirty="0" err="1"/>
              <a:t>faturat</a:t>
            </a:r>
            <a:r>
              <a:rPr lang="en-US" sz="2000" dirty="0"/>
              <a:t>) </a:t>
            </a:r>
            <a:r>
              <a:rPr lang="en-US" sz="2000" dirty="0" err="1"/>
              <a:t>një</a:t>
            </a:r>
            <a:r>
              <a:rPr lang="en-US" sz="2000" dirty="0"/>
              <a:t> pale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tretë</a:t>
            </a:r>
            <a:r>
              <a:rPr lang="en-US" sz="2000" dirty="0"/>
              <a:t>, e </a:t>
            </a:r>
            <a:r>
              <a:rPr lang="en-US" sz="2000" dirty="0" err="1"/>
              <a:t>quajtur</a:t>
            </a:r>
            <a:r>
              <a:rPr lang="en-US" sz="2000" dirty="0"/>
              <a:t> </a:t>
            </a:r>
            <a:r>
              <a:rPr lang="en-US" sz="2000" b="1" dirty="0" err="1"/>
              <a:t>faktor</a:t>
            </a:r>
            <a:r>
              <a:rPr lang="en-US" sz="2000" dirty="0"/>
              <a:t>, me </a:t>
            </a:r>
            <a:r>
              <a:rPr lang="en-US" sz="2000" dirty="0" err="1"/>
              <a:t>zbritje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 err="1"/>
              <a:t>Kjo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mundëson</a:t>
            </a:r>
            <a:r>
              <a:rPr lang="en-US" sz="2000" dirty="0"/>
              <a:t> </a:t>
            </a:r>
            <a:r>
              <a:rPr lang="en-US" sz="2000" dirty="0" err="1"/>
              <a:t>biznesit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marrë</a:t>
            </a:r>
            <a:r>
              <a:rPr lang="en-US" sz="2000" dirty="0"/>
              <a:t> para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dorë</a:t>
            </a:r>
            <a:r>
              <a:rPr lang="en-US" sz="2000" dirty="0"/>
              <a:t> </a:t>
            </a:r>
            <a:r>
              <a:rPr lang="en-US" sz="2000" dirty="0" err="1"/>
              <a:t>menjëherë</a:t>
            </a:r>
            <a:r>
              <a:rPr lang="en-US" sz="2000" dirty="0"/>
              <a:t>, </a:t>
            </a:r>
            <a:r>
              <a:rPr lang="en-US" sz="2000" dirty="0" err="1"/>
              <a:t>në</a:t>
            </a:r>
            <a:r>
              <a:rPr lang="en-US" sz="2000" dirty="0"/>
              <a:t> vend </a:t>
            </a:r>
            <a:r>
              <a:rPr lang="en-US" sz="2000" dirty="0" err="1"/>
              <a:t>që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presë</a:t>
            </a:r>
            <a:r>
              <a:rPr lang="en-US" sz="2000" dirty="0"/>
              <a:t> </a:t>
            </a:r>
            <a:r>
              <a:rPr lang="en-US" sz="2000" dirty="0" err="1"/>
              <a:t>pagesën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klientët</a:t>
            </a:r>
            <a:r>
              <a:rPr lang="en-US" sz="2000" dirty="0"/>
              <a:t>. </a:t>
            </a:r>
            <a:r>
              <a:rPr lang="en-US" sz="2000" dirty="0" err="1"/>
              <a:t>Faktori</a:t>
            </a:r>
            <a:r>
              <a:rPr lang="en-US" sz="2000" dirty="0"/>
              <a:t> </a:t>
            </a:r>
            <a:r>
              <a:rPr lang="en-US" sz="2000" dirty="0" err="1"/>
              <a:t>merr</a:t>
            </a:r>
            <a:r>
              <a:rPr lang="en-US" sz="2000" dirty="0"/>
              <a:t> </a:t>
            </a:r>
            <a:r>
              <a:rPr lang="en-US" sz="2000" dirty="0" err="1"/>
              <a:t>përgjegjësinë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mbledhjen</a:t>
            </a:r>
            <a:r>
              <a:rPr lang="en-US" sz="2000" dirty="0"/>
              <a:t> e </a:t>
            </a:r>
            <a:r>
              <a:rPr lang="en-US" sz="2000" dirty="0" err="1"/>
              <a:t>pagesave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klientët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 err="1"/>
              <a:t>Faktoringu</a:t>
            </a:r>
            <a:r>
              <a:rPr lang="en-US" sz="2000" dirty="0"/>
              <a:t> </a:t>
            </a:r>
            <a:r>
              <a:rPr lang="en-US" sz="2000" dirty="0" err="1"/>
              <a:t>përdoret</a:t>
            </a:r>
            <a:r>
              <a:rPr lang="en-US" sz="2000" dirty="0"/>
              <a:t> </a:t>
            </a:r>
            <a:r>
              <a:rPr lang="en-US" sz="2000" dirty="0" err="1"/>
              <a:t>zakonisht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bizneset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përmirësuar</a:t>
            </a:r>
            <a:r>
              <a:rPr lang="en-US" sz="2000" dirty="0"/>
              <a:t> </a:t>
            </a:r>
            <a:r>
              <a:rPr lang="en-US" sz="2000" dirty="0" err="1"/>
              <a:t>fluksin</a:t>
            </a:r>
            <a:r>
              <a:rPr lang="en-US" sz="2000" dirty="0"/>
              <a:t> e </a:t>
            </a:r>
            <a:r>
              <a:rPr lang="en-US" sz="2000" dirty="0" err="1"/>
              <a:t>parasë</a:t>
            </a:r>
            <a:r>
              <a:rPr lang="en-US" sz="2000" dirty="0"/>
              <a:t>, </a:t>
            </a:r>
            <a:r>
              <a:rPr lang="en-US" sz="2000" dirty="0" err="1"/>
              <a:t>veçanërisht</a:t>
            </a:r>
            <a:r>
              <a:rPr lang="en-US" sz="2000" dirty="0"/>
              <a:t> </a:t>
            </a:r>
            <a:r>
              <a:rPr lang="en-US" sz="2000" dirty="0" err="1"/>
              <a:t>ato</a:t>
            </a:r>
            <a:r>
              <a:rPr lang="en-US" sz="2000" dirty="0"/>
              <a:t> me </a:t>
            </a:r>
            <a:r>
              <a:rPr lang="en-US" sz="2000" dirty="0" err="1"/>
              <a:t>terma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gjata</a:t>
            </a:r>
            <a:r>
              <a:rPr lang="en-US" sz="2000" dirty="0"/>
              <a:t> </a:t>
            </a:r>
            <a:r>
              <a:rPr lang="en-US" sz="2000" dirty="0" err="1"/>
              <a:t>pagese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cikle</a:t>
            </a:r>
            <a:r>
              <a:rPr lang="en-US" sz="2000" dirty="0"/>
              <a:t> </a:t>
            </a:r>
            <a:r>
              <a:rPr lang="en-US" sz="2000" dirty="0" err="1"/>
              <a:t>shitjesh</a:t>
            </a:r>
            <a:r>
              <a:rPr lang="en-US" sz="2000" dirty="0"/>
              <a:t> </a:t>
            </a:r>
            <a:r>
              <a:rPr lang="en-US" sz="2000" dirty="0" err="1"/>
              <a:t>sezonale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114300" indent="0">
              <a:buNone/>
            </a:pPr>
            <a:r>
              <a:rPr lang="en-US" sz="2000" b="1" dirty="0" err="1"/>
              <a:t>Llojet</a:t>
            </a:r>
            <a:r>
              <a:rPr lang="en-US" sz="2000" b="1" dirty="0"/>
              <a:t> e </a:t>
            </a:r>
            <a:r>
              <a:rPr lang="en-US" sz="2000" b="1" dirty="0" err="1"/>
              <a:t>Faktoringut</a:t>
            </a:r>
            <a:r>
              <a:rPr lang="en-US" sz="2000" b="1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2000" b="1" dirty="0" err="1"/>
              <a:t>Faktoring</a:t>
            </a:r>
            <a:r>
              <a:rPr lang="en-US" sz="2000" b="1" dirty="0"/>
              <a:t> me </a:t>
            </a:r>
            <a:r>
              <a:rPr lang="en-US" sz="2000" b="1" dirty="0" err="1"/>
              <a:t>Rekurs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Biznesi</a:t>
            </a:r>
            <a:r>
              <a:rPr lang="en-US" sz="2000" dirty="0"/>
              <a:t> </a:t>
            </a:r>
            <a:r>
              <a:rPr lang="en-US" sz="2000" dirty="0" err="1"/>
              <a:t>mbetet</a:t>
            </a:r>
            <a:r>
              <a:rPr lang="en-US" sz="2000" dirty="0"/>
              <a:t> </a:t>
            </a:r>
            <a:r>
              <a:rPr lang="en-US" sz="2000" dirty="0" err="1"/>
              <a:t>përgjegjës</a:t>
            </a:r>
            <a:r>
              <a:rPr lang="en-US" sz="2000" dirty="0"/>
              <a:t> </a:t>
            </a:r>
            <a:r>
              <a:rPr lang="en-US" sz="2000" dirty="0" err="1"/>
              <a:t>nëse</a:t>
            </a:r>
            <a:r>
              <a:rPr lang="en-US" sz="2000" dirty="0"/>
              <a:t> </a:t>
            </a:r>
            <a:r>
              <a:rPr lang="en-US" sz="2000" dirty="0" err="1"/>
              <a:t>klienti</a:t>
            </a:r>
            <a:r>
              <a:rPr lang="en-US" sz="2000" dirty="0"/>
              <a:t> </a:t>
            </a:r>
            <a:r>
              <a:rPr lang="en-US" sz="2000" dirty="0" err="1"/>
              <a:t>nuk</a:t>
            </a:r>
            <a:r>
              <a:rPr lang="en-US" sz="2000" dirty="0"/>
              <a:t> </a:t>
            </a:r>
            <a:r>
              <a:rPr lang="en-US" sz="2000" dirty="0" err="1"/>
              <a:t>paguan</a:t>
            </a:r>
            <a:r>
              <a:rPr lang="en-US" sz="2000" dirty="0"/>
              <a:t> </a:t>
            </a:r>
            <a:r>
              <a:rPr lang="en-US" sz="2000" dirty="0" err="1"/>
              <a:t>faturën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b="1" dirty="0" err="1"/>
              <a:t>Faktoring</a:t>
            </a:r>
            <a:r>
              <a:rPr lang="en-US" sz="2000" b="1" dirty="0"/>
              <a:t> pa </a:t>
            </a:r>
            <a:r>
              <a:rPr lang="en-US" sz="2000" b="1" dirty="0" err="1"/>
              <a:t>Rekurs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Faktori</a:t>
            </a:r>
            <a:r>
              <a:rPr lang="en-US" sz="2000" dirty="0"/>
              <a:t> </a:t>
            </a:r>
            <a:r>
              <a:rPr lang="en-US" sz="2000" dirty="0" err="1"/>
              <a:t>merr</a:t>
            </a:r>
            <a:r>
              <a:rPr lang="en-US" sz="2000" dirty="0"/>
              <a:t> </a:t>
            </a:r>
            <a:r>
              <a:rPr lang="en-US" sz="2000" dirty="0" err="1"/>
              <a:t>përsipër</a:t>
            </a:r>
            <a:r>
              <a:rPr lang="en-US" sz="2000" dirty="0"/>
              <a:t> </a:t>
            </a:r>
            <a:r>
              <a:rPr lang="en-US" sz="2000" dirty="0" err="1"/>
              <a:t>rrezikun</a:t>
            </a:r>
            <a:r>
              <a:rPr lang="en-US" sz="2000" dirty="0"/>
              <a:t> e </a:t>
            </a:r>
            <a:r>
              <a:rPr lang="en-US" sz="2000" dirty="0" err="1"/>
              <a:t>mos-pagesës</a:t>
            </a:r>
            <a:r>
              <a:rPr lang="en-US" sz="2000" dirty="0"/>
              <a:t>,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zakonisht</a:t>
            </a:r>
            <a:r>
              <a:rPr lang="en-US" sz="2000" dirty="0"/>
              <a:t> ka </a:t>
            </a:r>
            <a:r>
              <a:rPr lang="en-US" sz="2000" dirty="0" err="1"/>
              <a:t>tarifa</a:t>
            </a:r>
            <a:r>
              <a:rPr lang="en-US" sz="2000" dirty="0"/>
              <a:t> </a:t>
            </a:r>
            <a:r>
              <a:rPr lang="en-US" sz="2000" dirty="0" err="1"/>
              <a:t>më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larta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FAKTORINGU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en-US" sz="2000" b="1" dirty="0" err="1"/>
              <a:t>Shembull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 </a:t>
            </a:r>
            <a:r>
              <a:rPr lang="en-US" sz="2000" b="1" dirty="0" err="1"/>
              <a:t>Faktoringut</a:t>
            </a:r>
            <a:r>
              <a:rPr lang="en-US" sz="2000" b="1" dirty="0"/>
              <a:t>:</a:t>
            </a:r>
          </a:p>
          <a:p>
            <a:endParaRPr lang="en-US" sz="2000" dirty="0"/>
          </a:p>
          <a:p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, </a:t>
            </a:r>
            <a:r>
              <a:rPr lang="en-US" sz="2000" b="1" dirty="0" err="1"/>
              <a:t>TechGears</a:t>
            </a:r>
            <a:r>
              <a:rPr lang="en-US" sz="2000" b="1" dirty="0"/>
              <a:t> Inc.</a:t>
            </a:r>
            <a:r>
              <a:rPr lang="en-US" sz="2000" dirty="0"/>
              <a:t>, </a:t>
            </a:r>
            <a:r>
              <a:rPr lang="en-US" sz="2000" dirty="0" err="1"/>
              <a:t>prodhon</a:t>
            </a:r>
            <a:r>
              <a:rPr lang="en-US" sz="2000" dirty="0"/>
              <a:t> </a:t>
            </a:r>
            <a:r>
              <a:rPr lang="en-US" sz="2000" dirty="0" err="1"/>
              <a:t>komponentë</a:t>
            </a:r>
            <a:r>
              <a:rPr lang="en-US" sz="2000" dirty="0"/>
              <a:t> </a:t>
            </a:r>
            <a:r>
              <a:rPr lang="en-US" sz="2000" dirty="0" err="1"/>
              <a:t>elektronikë</a:t>
            </a:r>
            <a:r>
              <a:rPr lang="en-US" sz="2000" dirty="0"/>
              <a:t>. Ajo </a:t>
            </a:r>
            <a:r>
              <a:rPr lang="en-US" sz="2000" dirty="0" err="1"/>
              <a:t>shet</a:t>
            </a:r>
            <a:r>
              <a:rPr lang="en-US" sz="2000" dirty="0"/>
              <a:t> </a:t>
            </a:r>
            <a:r>
              <a:rPr lang="en-US" sz="2000" dirty="0" err="1"/>
              <a:t>komponentë</a:t>
            </a:r>
            <a:r>
              <a:rPr lang="en-US" sz="2000" dirty="0"/>
              <a:t> me </a:t>
            </a:r>
            <a:r>
              <a:rPr lang="en-US" sz="2000" dirty="0" err="1"/>
              <a:t>vlerë</a:t>
            </a:r>
            <a:r>
              <a:rPr lang="en-US" sz="2000" dirty="0"/>
              <a:t> $100,000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klienti</a:t>
            </a:r>
            <a:r>
              <a:rPr lang="en-US" sz="2000" dirty="0"/>
              <a:t>, me </a:t>
            </a:r>
            <a:r>
              <a:rPr lang="en-US" sz="2000" dirty="0" err="1"/>
              <a:t>terma</a:t>
            </a:r>
            <a:r>
              <a:rPr lang="en-US" sz="2000" dirty="0"/>
              <a:t> </a:t>
            </a:r>
            <a:r>
              <a:rPr lang="en-US" sz="2000" dirty="0" err="1"/>
              <a:t>pagese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90 </a:t>
            </a:r>
            <a:r>
              <a:rPr lang="en-US" sz="2000" dirty="0" err="1"/>
              <a:t>ditësh</a:t>
            </a:r>
            <a:r>
              <a:rPr lang="en-US" sz="2000" dirty="0"/>
              <a:t>. </a:t>
            </a:r>
            <a:r>
              <a:rPr lang="en-US" sz="2000" dirty="0" err="1"/>
              <a:t>Megjithatë</a:t>
            </a:r>
            <a:r>
              <a:rPr lang="en-US" sz="2000" dirty="0"/>
              <a:t>, </a:t>
            </a:r>
            <a:r>
              <a:rPr lang="en-US" sz="2000" dirty="0" err="1"/>
              <a:t>TechGears</a:t>
            </a:r>
            <a:r>
              <a:rPr lang="en-US" sz="2000" dirty="0"/>
              <a:t> ka </a:t>
            </a:r>
            <a:r>
              <a:rPr lang="en-US" sz="2000" dirty="0" err="1"/>
              <a:t>nevojë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para </a:t>
            </a:r>
            <a:r>
              <a:rPr lang="en-US" sz="2000" dirty="0" err="1"/>
              <a:t>menjëherë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paguar</a:t>
            </a:r>
            <a:r>
              <a:rPr lang="en-US" sz="2000" dirty="0"/>
              <a:t> </a:t>
            </a:r>
            <a:r>
              <a:rPr lang="en-US" sz="2000" dirty="0" err="1"/>
              <a:t>furnitorët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punonjësit</a:t>
            </a:r>
            <a:r>
              <a:rPr lang="en-US" sz="2000" dirty="0"/>
              <a:t>.</a:t>
            </a:r>
          </a:p>
          <a:p>
            <a:pPr marL="114300" indent="0">
              <a:buNone/>
            </a:pPr>
            <a:endParaRPr lang="en-US" sz="2000" b="1" dirty="0"/>
          </a:p>
          <a:p>
            <a:pPr marL="114300" indent="0">
              <a:buNone/>
            </a:pPr>
            <a:r>
              <a:rPr lang="en-US" sz="2000" b="1" dirty="0" err="1"/>
              <a:t>Marrëveshja</a:t>
            </a:r>
            <a:r>
              <a:rPr lang="en-US" sz="2000" b="1" dirty="0"/>
              <a:t> e </a:t>
            </a:r>
            <a:r>
              <a:rPr lang="en-US" sz="2000" b="1" dirty="0" err="1"/>
              <a:t>Faktoringut</a:t>
            </a:r>
            <a:r>
              <a:rPr lang="en-US" sz="20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TechGears</a:t>
            </a:r>
            <a:r>
              <a:rPr lang="en-US" sz="2000" dirty="0"/>
              <a:t> </a:t>
            </a:r>
            <a:r>
              <a:rPr lang="en-US" sz="2000" dirty="0" err="1"/>
              <a:t>shet</a:t>
            </a:r>
            <a:r>
              <a:rPr lang="en-US" sz="2000" dirty="0"/>
              <a:t> </a:t>
            </a:r>
            <a:r>
              <a:rPr lang="en-US" sz="2000" dirty="0" err="1"/>
              <a:t>faturën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$100,000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kompanie</a:t>
            </a:r>
            <a:r>
              <a:rPr lang="en-US" sz="2000" dirty="0"/>
              <a:t> </a:t>
            </a:r>
            <a:r>
              <a:rPr lang="en-US" sz="2000" dirty="0" err="1"/>
              <a:t>faktoringu</a:t>
            </a:r>
            <a:r>
              <a:rPr lang="en-US" sz="2000" dirty="0"/>
              <a:t>, </a:t>
            </a:r>
            <a:r>
              <a:rPr lang="en-US" sz="2000" b="1" dirty="0" err="1"/>
              <a:t>FastFunds</a:t>
            </a:r>
            <a:r>
              <a:rPr lang="en-US" sz="2000" b="1" dirty="0"/>
              <a:t> Ltd.</a:t>
            </a:r>
            <a:r>
              <a:rPr lang="en-US" sz="2000" dirty="0"/>
              <a:t>, me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zbritje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5%.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FastFunds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paguan</a:t>
            </a:r>
            <a:r>
              <a:rPr lang="en-US" sz="2000" dirty="0"/>
              <a:t> </a:t>
            </a:r>
            <a:r>
              <a:rPr lang="en-US" sz="2000" b="1" dirty="0" err="1"/>
              <a:t>TechGears</a:t>
            </a:r>
            <a:r>
              <a:rPr lang="en-US" sz="2000" dirty="0"/>
              <a:t> $95,000 </a:t>
            </a:r>
            <a:r>
              <a:rPr lang="en-US" sz="2000" dirty="0" err="1"/>
              <a:t>menjëherë</a:t>
            </a:r>
            <a:r>
              <a:rPr lang="en-US" sz="2000" dirty="0"/>
              <a:t> (95% e </a:t>
            </a:r>
            <a:r>
              <a:rPr lang="en-US" sz="2000" dirty="0" err="1"/>
              <a:t>vlerës</a:t>
            </a:r>
            <a:r>
              <a:rPr lang="en-US" sz="2000" dirty="0"/>
              <a:t> </a:t>
            </a:r>
            <a:r>
              <a:rPr lang="en-US" sz="2000" dirty="0" err="1"/>
              <a:t>së</a:t>
            </a:r>
            <a:r>
              <a:rPr lang="en-US" sz="2000" dirty="0"/>
              <a:t> </a:t>
            </a:r>
            <a:r>
              <a:rPr lang="en-US" sz="2000" dirty="0" err="1"/>
              <a:t>faturës</a:t>
            </a:r>
            <a:r>
              <a:rPr lang="en-US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Pas 90 </a:t>
            </a:r>
            <a:r>
              <a:rPr lang="en-US" sz="2000" dirty="0" err="1"/>
              <a:t>ditësh</a:t>
            </a:r>
            <a:r>
              <a:rPr lang="en-US" sz="2000" dirty="0"/>
              <a:t>, </a:t>
            </a:r>
            <a:r>
              <a:rPr lang="en-US" sz="2000" dirty="0" err="1"/>
              <a:t>FastFunds</a:t>
            </a:r>
            <a:r>
              <a:rPr lang="en-US" sz="2000" dirty="0"/>
              <a:t> </a:t>
            </a:r>
            <a:r>
              <a:rPr lang="en-US" sz="2000" dirty="0" err="1"/>
              <a:t>mbledh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gjithë</a:t>
            </a:r>
            <a:r>
              <a:rPr lang="en-US" sz="2000" dirty="0"/>
              <a:t> </a:t>
            </a:r>
            <a:r>
              <a:rPr lang="en-US" sz="2000" dirty="0" err="1"/>
              <a:t>shumën</a:t>
            </a:r>
            <a:r>
              <a:rPr lang="en-US" sz="2000" dirty="0"/>
              <a:t> </a:t>
            </a:r>
            <a:r>
              <a:rPr lang="en-US" sz="2000" dirty="0" err="1"/>
              <a:t>prej</a:t>
            </a:r>
            <a:r>
              <a:rPr lang="en-US" sz="2000" dirty="0"/>
              <a:t> $100,000 </a:t>
            </a:r>
            <a:r>
              <a:rPr lang="en-US" sz="2000" dirty="0" err="1"/>
              <a:t>direkt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klienti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0955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FAKTORINGU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en-US" b="1" dirty="0" err="1"/>
              <a:t>Përfitimet</a:t>
            </a:r>
            <a:r>
              <a:rPr lang="en-US" b="1" dirty="0"/>
              <a:t>:</a:t>
            </a:r>
          </a:p>
          <a:p>
            <a:r>
              <a:rPr lang="en-US" b="1" dirty="0" err="1"/>
              <a:t>Për</a:t>
            </a:r>
            <a:r>
              <a:rPr lang="en-US" b="1" dirty="0"/>
              <a:t> </a:t>
            </a:r>
            <a:r>
              <a:rPr lang="en-US" b="1" dirty="0" err="1"/>
              <a:t>TechGears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Merr</a:t>
            </a:r>
            <a:r>
              <a:rPr lang="en-US" dirty="0"/>
              <a:t> $95,000 </a:t>
            </a:r>
            <a:r>
              <a:rPr lang="en-US" dirty="0" err="1"/>
              <a:t>menjëherë</a:t>
            </a:r>
            <a:r>
              <a:rPr lang="en-US" dirty="0"/>
              <a:t>, </a:t>
            </a:r>
            <a:r>
              <a:rPr lang="en-US" dirty="0" err="1"/>
              <a:t>në</a:t>
            </a:r>
            <a:r>
              <a:rPr lang="en-US" dirty="0"/>
              <a:t> vend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presë</a:t>
            </a:r>
            <a:r>
              <a:rPr lang="en-US" dirty="0"/>
              <a:t> 90 </a:t>
            </a:r>
            <a:r>
              <a:rPr lang="en-US" dirty="0" err="1"/>
              <a:t>ditë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Përmirëson</a:t>
            </a:r>
            <a:r>
              <a:rPr lang="en-US" dirty="0"/>
              <a:t> </a:t>
            </a:r>
            <a:r>
              <a:rPr lang="en-US" dirty="0" err="1"/>
              <a:t>fluksin</a:t>
            </a:r>
            <a:r>
              <a:rPr lang="en-US" dirty="0"/>
              <a:t> e </a:t>
            </a:r>
            <a:r>
              <a:rPr lang="en-US" dirty="0" err="1"/>
              <a:t>parasë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vazhdon</a:t>
            </a:r>
            <a:r>
              <a:rPr lang="en-US" dirty="0"/>
              <a:t> </a:t>
            </a:r>
            <a:r>
              <a:rPr lang="en-US" dirty="0" err="1"/>
              <a:t>operacionet</a:t>
            </a:r>
            <a:r>
              <a:rPr lang="en-US" dirty="0"/>
              <a:t> e </a:t>
            </a:r>
            <a:r>
              <a:rPr lang="en-US" dirty="0" err="1"/>
              <a:t>biznesit</a:t>
            </a:r>
            <a:r>
              <a:rPr lang="en-US" dirty="0"/>
              <a:t>.</a:t>
            </a:r>
          </a:p>
          <a:p>
            <a:r>
              <a:rPr lang="en-US" b="1" dirty="0" err="1"/>
              <a:t>Për</a:t>
            </a:r>
            <a:r>
              <a:rPr lang="en-US" b="1" dirty="0"/>
              <a:t> </a:t>
            </a:r>
            <a:r>
              <a:rPr lang="en-US" b="1" dirty="0" err="1"/>
              <a:t>FastFunds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Fiton</a:t>
            </a:r>
            <a:r>
              <a:rPr lang="en-US" dirty="0"/>
              <a:t> $5,000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tarifë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ofrimin</a:t>
            </a:r>
            <a:r>
              <a:rPr lang="en-US" dirty="0"/>
              <a:t> e </a:t>
            </a:r>
            <a:r>
              <a:rPr lang="en-US" dirty="0" err="1"/>
              <a:t>likuiditetit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menjëhershëm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marrjen</a:t>
            </a:r>
            <a:r>
              <a:rPr lang="en-US" dirty="0"/>
              <a:t> </a:t>
            </a:r>
            <a:r>
              <a:rPr lang="en-US" dirty="0" err="1"/>
              <a:t>përsipër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mbledhjes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pagesave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Kufizimet</a:t>
            </a:r>
            <a:endParaRPr lang="en-US" b="1" dirty="0"/>
          </a:p>
          <a:p>
            <a:pPr>
              <a:buNone/>
            </a:pPr>
            <a:endParaRPr lang="en-US" dirty="0"/>
          </a:p>
          <a:p>
            <a:pPr lvl="0"/>
            <a:r>
              <a:rPr lang="en-US" dirty="0" err="1"/>
              <a:t>Ky</a:t>
            </a:r>
            <a:r>
              <a:rPr lang="en-US" dirty="0"/>
              <a:t> </a:t>
            </a:r>
            <a:r>
              <a:rPr lang="en-US" dirty="0" err="1"/>
              <a:t>burim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shtrenjtë</a:t>
            </a:r>
            <a:r>
              <a:rPr lang="en-US" dirty="0"/>
              <a:t> </a:t>
            </a:r>
            <a:r>
              <a:rPr lang="en-US" dirty="0" err="1"/>
              <a:t>kur</a:t>
            </a:r>
            <a:r>
              <a:rPr lang="en-US" dirty="0"/>
              <a:t> </a:t>
            </a:r>
            <a:r>
              <a:rPr lang="en-US" dirty="0" err="1"/>
              <a:t>faturat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shumta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sasi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vogla</a:t>
            </a:r>
            <a:endParaRPr lang="en-US" dirty="0"/>
          </a:p>
          <a:p>
            <a:pPr lvl="0"/>
            <a:r>
              <a:rPr lang="en-US" dirty="0" err="1"/>
              <a:t>Financimi</a:t>
            </a:r>
            <a:r>
              <a:rPr lang="en-US" dirty="0"/>
              <a:t> </a:t>
            </a:r>
            <a:r>
              <a:rPr lang="en-US" dirty="0" err="1"/>
              <a:t>paradhënie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ofruar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firma e </a:t>
            </a:r>
            <a:r>
              <a:rPr lang="en-US" dirty="0" err="1"/>
              <a:t>faktorit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përgjithësisht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disponueshëm</a:t>
            </a:r>
            <a:r>
              <a:rPr lang="en-US" dirty="0"/>
              <a:t> me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kosto</a:t>
            </a:r>
            <a:r>
              <a:rPr lang="en-US" dirty="0"/>
              <a:t> </a:t>
            </a:r>
            <a:r>
              <a:rPr lang="en-US" dirty="0" err="1"/>
              <a:t>interesi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se </a:t>
            </a:r>
            <a:r>
              <a:rPr lang="en-US" dirty="0" err="1"/>
              <a:t>norma</a:t>
            </a:r>
            <a:r>
              <a:rPr lang="en-US" dirty="0"/>
              <a:t> e </a:t>
            </a:r>
            <a:r>
              <a:rPr lang="en-US" dirty="0" err="1"/>
              <a:t>zakonshme</a:t>
            </a:r>
            <a:r>
              <a:rPr lang="en-US" dirty="0"/>
              <a:t> e </a:t>
            </a:r>
            <a:r>
              <a:rPr lang="en-US" dirty="0" err="1"/>
              <a:t>interesit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Faktori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palë</a:t>
            </a:r>
            <a:r>
              <a:rPr lang="en-US" dirty="0"/>
              <a:t> e </a:t>
            </a:r>
            <a:r>
              <a:rPr lang="en-US" dirty="0" err="1"/>
              <a:t>tretë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klientin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ndihet</a:t>
            </a:r>
            <a:r>
              <a:rPr lang="en-US" dirty="0"/>
              <a:t> </a:t>
            </a:r>
            <a:r>
              <a:rPr lang="en-US" dirty="0" err="1"/>
              <a:t>rehat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ndihet</a:t>
            </a:r>
            <a:r>
              <a:rPr lang="en-US" dirty="0"/>
              <a:t> </a:t>
            </a:r>
            <a:r>
              <a:rPr lang="en-US" dirty="0" err="1"/>
              <a:t>rehat</a:t>
            </a:r>
            <a:r>
              <a:rPr lang="en-US" dirty="0"/>
              <a:t> </a:t>
            </a:r>
            <a:r>
              <a:rPr lang="en-US" dirty="0" err="1"/>
              <a:t>ndërsa</a:t>
            </a:r>
            <a:r>
              <a:rPr lang="en-US" dirty="0"/>
              <a:t> </a:t>
            </a:r>
            <a:r>
              <a:rPr lang="en-US" dirty="0" err="1"/>
              <a:t>merret</a:t>
            </a:r>
            <a:r>
              <a:rPr lang="en-US" dirty="0"/>
              <a:t> me </a:t>
            </a:r>
            <a:r>
              <a:rPr lang="en-US" dirty="0" err="1"/>
              <a:t>të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FAKTORINGU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b="1" dirty="0"/>
          </a:p>
          <a:p>
            <a:r>
              <a:rPr lang="en-US" sz="2400" b="1" dirty="0" err="1"/>
              <a:t>Pikat</a:t>
            </a:r>
            <a:r>
              <a:rPr lang="en-US" sz="2400" b="1" dirty="0"/>
              <a:t> </a:t>
            </a:r>
            <a:r>
              <a:rPr lang="en-US" sz="2400" b="1" dirty="0" err="1"/>
              <a:t>Kyçe</a:t>
            </a:r>
            <a:r>
              <a:rPr lang="en-US" sz="24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Faktoringu</a:t>
            </a:r>
            <a:r>
              <a:rPr lang="en-US" sz="2400" dirty="0"/>
              <a:t> </a:t>
            </a:r>
            <a:r>
              <a:rPr lang="en-US" sz="2400" dirty="0" err="1"/>
              <a:t>ndihmon</a:t>
            </a:r>
            <a:r>
              <a:rPr lang="en-US" sz="2400" dirty="0"/>
              <a:t> </a:t>
            </a:r>
            <a:r>
              <a:rPr lang="en-US" sz="2400" dirty="0" err="1"/>
              <a:t>bizneset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menaxhojnë</a:t>
            </a:r>
            <a:r>
              <a:rPr lang="en-US" sz="2400" dirty="0"/>
              <a:t> </a:t>
            </a:r>
            <a:r>
              <a:rPr lang="en-US" sz="2400" dirty="0" err="1"/>
              <a:t>fluksin</a:t>
            </a:r>
            <a:r>
              <a:rPr lang="en-US" sz="2400" dirty="0"/>
              <a:t> e </a:t>
            </a:r>
            <a:r>
              <a:rPr lang="en-US" sz="2400" dirty="0" err="1"/>
              <a:t>parasë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Është</a:t>
            </a:r>
            <a:r>
              <a:rPr lang="en-US" sz="2400" dirty="0"/>
              <a:t> </a:t>
            </a:r>
            <a:r>
              <a:rPr lang="en-US" sz="2400" dirty="0" err="1"/>
              <a:t>veçanërisht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dobishëm</a:t>
            </a:r>
            <a:r>
              <a:rPr lang="en-US" sz="2400" dirty="0"/>
              <a:t> </a:t>
            </a:r>
            <a:r>
              <a:rPr lang="en-US" sz="2400" dirty="0" err="1"/>
              <a:t>për</a:t>
            </a:r>
            <a:r>
              <a:rPr lang="en-US" sz="2400" dirty="0"/>
              <a:t> </a:t>
            </a:r>
            <a:r>
              <a:rPr lang="en-US" sz="2400" dirty="0" err="1"/>
              <a:t>bizneset</a:t>
            </a:r>
            <a:r>
              <a:rPr lang="en-US" sz="2400" dirty="0"/>
              <a:t> me </a:t>
            </a:r>
            <a:r>
              <a:rPr lang="en-US" sz="2400" dirty="0" err="1"/>
              <a:t>pagesa</a:t>
            </a:r>
            <a:r>
              <a:rPr lang="en-US" sz="2400" dirty="0"/>
              <a:t> </a:t>
            </a:r>
            <a:r>
              <a:rPr lang="en-US" sz="2400" dirty="0" err="1"/>
              <a:t>afatgjata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Faktorët</a:t>
            </a:r>
            <a:r>
              <a:rPr lang="en-US" sz="2400" dirty="0"/>
              <a:t> </a:t>
            </a:r>
            <a:r>
              <a:rPr lang="en-US" sz="2400" dirty="0" err="1"/>
              <a:t>ngarkojnë</a:t>
            </a:r>
            <a:r>
              <a:rPr lang="en-US" sz="2400" dirty="0"/>
              <a:t> </a:t>
            </a:r>
            <a:r>
              <a:rPr lang="en-US" sz="2400" dirty="0" err="1"/>
              <a:t>tarifa</a:t>
            </a:r>
            <a:r>
              <a:rPr lang="en-US" sz="2400" dirty="0"/>
              <a:t> </a:t>
            </a:r>
            <a:r>
              <a:rPr lang="en-US" sz="2400" dirty="0" err="1"/>
              <a:t>ose</a:t>
            </a:r>
            <a:r>
              <a:rPr lang="en-US" sz="2400" dirty="0"/>
              <a:t> </a:t>
            </a:r>
            <a:r>
              <a:rPr lang="en-US" sz="2400" dirty="0" err="1"/>
              <a:t>marrin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përqindje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vlerës</a:t>
            </a:r>
            <a:r>
              <a:rPr lang="en-US" sz="2400" dirty="0"/>
              <a:t> </a:t>
            </a:r>
            <a:r>
              <a:rPr lang="en-US" sz="2400" dirty="0" err="1"/>
              <a:t>së</a:t>
            </a:r>
            <a:r>
              <a:rPr lang="en-US" sz="2400" dirty="0"/>
              <a:t> </a:t>
            </a:r>
            <a:r>
              <a:rPr lang="en-US" sz="2400" dirty="0" err="1"/>
              <a:t>faturës</a:t>
            </a:r>
            <a:r>
              <a:rPr lang="en-US" sz="2400" dirty="0"/>
              <a:t> </a:t>
            </a:r>
            <a:r>
              <a:rPr lang="en-US" sz="2400" dirty="0" err="1"/>
              <a:t>në</a:t>
            </a:r>
            <a:r>
              <a:rPr lang="en-US" sz="2400" dirty="0"/>
              <a:t> </a:t>
            </a:r>
            <a:r>
              <a:rPr lang="en-US" sz="2400" dirty="0" err="1"/>
              <a:t>këmbim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parasë</a:t>
            </a:r>
            <a:r>
              <a:rPr lang="en-US" sz="2400" dirty="0"/>
              <a:t> </a:t>
            </a:r>
            <a:r>
              <a:rPr lang="en-US" sz="2400" dirty="0" err="1"/>
              <a:t>së</a:t>
            </a:r>
            <a:r>
              <a:rPr lang="en-US" sz="2400" dirty="0"/>
              <a:t> </a:t>
            </a:r>
            <a:r>
              <a:rPr lang="en-US" sz="2400" dirty="0" err="1"/>
              <a:t>menjëhershme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shërbimeve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mbledhjes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1885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FINANCIMI ME DHENIE ME QIRA - Leasing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Financimi</a:t>
            </a:r>
            <a:r>
              <a:rPr lang="en-US" sz="2000" dirty="0"/>
              <a:t> me </a:t>
            </a:r>
            <a:r>
              <a:rPr lang="en-US" sz="2000" dirty="0" err="1"/>
              <a:t>qira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marrëveshje</a:t>
            </a:r>
            <a:r>
              <a:rPr lang="en-US" sz="2000" dirty="0"/>
              <a:t> </a:t>
            </a:r>
            <a:r>
              <a:rPr lang="en-US" sz="2000" dirty="0" err="1"/>
              <a:t>kontraktuale</a:t>
            </a:r>
            <a:r>
              <a:rPr lang="en-US" sz="2000" dirty="0"/>
              <a:t> </a:t>
            </a:r>
            <a:r>
              <a:rPr lang="en-US" sz="2000" dirty="0" err="1"/>
              <a:t>ku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biznes</a:t>
            </a:r>
            <a:r>
              <a:rPr lang="en-US" sz="2000" dirty="0"/>
              <a:t> (</a:t>
            </a:r>
            <a:r>
              <a:rPr lang="en-US" sz="2000" dirty="0" err="1"/>
              <a:t>qiramarrësi</a:t>
            </a:r>
            <a:r>
              <a:rPr lang="en-US" sz="2000" dirty="0"/>
              <a:t>) </a:t>
            </a:r>
            <a:r>
              <a:rPr lang="en-US" sz="2000" dirty="0" err="1"/>
              <a:t>fiton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drejtën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përdorur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pasuri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pronësi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pale </a:t>
            </a:r>
            <a:r>
              <a:rPr lang="en-US" sz="2000" dirty="0" err="1"/>
              <a:t>tjetër</a:t>
            </a:r>
            <a:r>
              <a:rPr lang="en-US" sz="2000" dirty="0"/>
              <a:t> (</a:t>
            </a:r>
            <a:r>
              <a:rPr lang="en-US" sz="2000" dirty="0" err="1"/>
              <a:t>qiradhënësi</a:t>
            </a:r>
            <a:r>
              <a:rPr lang="en-US" sz="2000" dirty="0"/>
              <a:t>)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periudhë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caktuar</a:t>
            </a:r>
            <a:r>
              <a:rPr lang="en-US" sz="2000" dirty="0"/>
              <a:t>, duke </a:t>
            </a:r>
            <a:r>
              <a:rPr lang="en-US" sz="2000" dirty="0" err="1"/>
              <a:t>paguar</a:t>
            </a:r>
            <a:r>
              <a:rPr lang="en-US" sz="2000" dirty="0"/>
              <a:t> </a:t>
            </a:r>
            <a:r>
              <a:rPr lang="en-US" sz="2000" dirty="0" err="1"/>
              <a:t>rregullisht</a:t>
            </a:r>
            <a:r>
              <a:rPr lang="en-US" sz="2000" dirty="0"/>
              <a:t>. 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formë</a:t>
            </a:r>
            <a:r>
              <a:rPr lang="en-US" sz="2000" dirty="0"/>
              <a:t> </a:t>
            </a:r>
            <a:r>
              <a:rPr lang="en-US" sz="2000" dirty="0" err="1"/>
              <a:t>financimi</a:t>
            </a:r>
            <a:r>
              <a:rPr lang="en-US" sz="2000" dirty="0"/>
              <a:t> </a:t>
            </a:r>
            <a:r>
              <a:rPr lang="en-US" sz="2000" dirty="0" err="1"/>
              <a:t>që</a:t>
            </a:r>
            <a:r>
              <a:rPr lang="en-US" sz="2000" dirty="0"/>
              <a:t> u </a:t>
            </a:r>
            <a:r>
              <a:rPr lang="en-US" sz="2000" dirty="0" err="1"/>
              <a:t>mundëson</a:t>
            </a:r>
            <a:r>
              <a:rPr lang="en-US" sz="2000" dirty="0"/>
              <a:t> </a:t>
            </a:r>
            <a:r>
              <a:rPr lang="en-US" sz="2000" dirty="0" err="1"/>
              <a:t>bizneseve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marrin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përdorin</a:t>
            </a:r>
            <a:r>
              <a:rPr lang="en-US" sz="2000" dirty="0"/>
              <a:t> </a:t>
            </a:r>
            <a:r>
              <a:rPr lang="en-US" sz="2000" dirty="0" err="1"/>
              <a:t>pasuri</a:t>
            </a:r>
            <a:r>
              <a:rPr lang="en-US" sz="2000" dirty="0"/>
              <a:t> pa </a:t>
            </a:r>
            <a:r>
              <a:rPr lang="en-US" sz="2000" dirty="0" err="1"/>
              <a:t>pasur</a:t>
            </a:r>
            <a:r>
              <a:rPr lang="en-US" sz="2000" dirty="0"/>
              <a:t> </a:t>
            </a:r>
            <a:r>
              <a:rPr lang="en-US" sz="2000" dirty="0" err="1"/>
              <a:t>nevojë</a:t>
            </a:r>
            <a:r>
              <a:rPr lang="en-US" sz="2000" dirty="0"/>
              <a:t> </a:t>
            </a:r>
            <a:r>
              <a:rPr lang="en-US" sz="2000" dirty="0" err="1"/>
              <a:t>t’i</a:t>
            </a:r>
            <a:r>
              <a:rPr lang="en-US" sz="2000" dirty="0"/>
              <a:t> </a:t>
            </a:r>
            <a:r>
              <a:rPr lang="en-US" sz="2000" dirty="0" err="1"/>
              <a:t>blejnë</a:t>
            </a:r>
            <a:r>
              <a:rPr lang="en-US" sz="2000" dirty="0"/>
              <a:t> </a:t>
            </a:r>
            <a:r>
              <a:rPr lang="en-US" sz="2000" dirty="0" err="1"/>
              <a:t>ato</a:t>
            </a:r>
            <a:r>
              <a:rPr lang="en-US" sz="2000" dirty="0"/>
              <a:t> </a:t>
            </a:r>
            <a:r>
              <a:rPr lang="en-US" sz="2000" dirty="0" err="1"/>
              <a:t>menjëherë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dirty="0"/>
          </a:p>
          <a:p>
            <a:pPr marL="114300" lv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FINANCIMI ME DHENIE ME QIRA - Leasing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lvl="0" indent="0">
              <a:buNone/>
            </a:pPr>
            <a:r>
              <a:rPr lang="en-US" sz="2000" dirty="0" err="1"/>
              <a:t>Karakteristikat</a:t>
            </a:r>
            <a:r>
              <a:rPr lang="en-US" sz="2000" dirty="0"/>
              <a:t> </a:t>
            </a:r>
            <a:r>
              <a:rPr lang="en-US" sz="2000" dirty="0" err="1"/>
              <a:t>Kryesore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Financimit</a:t>
            </a:r>
            <a:r>
              <a:rPr lang="en-US" sz="2000" dirty="0"/>
              <a:t> me </a:t>
            </a:r>
            <a:r>
              <a:rPr lang="en-US" sz="2000" dirty="0" err="1"/>
              <a:t>Qira</a:t>
            </a:r>
            <a:r>
              <a:rPr lang="en-US" sz="2000" dirty="0"/>
              <a:t>: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Pronësia</a:t>
            </a:r>
            <a:r>
              <a:rPr lang="en-US" sz="2000" b="1" dirty="0"/>
              <a:t>: </a:t>
            </a:r>
            <a:r>
              <a:rPr lang="en-US" sz="2000" dirty="0" err="1"/>
              <a:t>Qiradhënësi</a:t>
            </a:r>
            <a:r>
              <a:rPr lang="en-US" sz="2000" dirty="0"/>
              <a:t> </a:t>
            </a:r>
            <a:r>
              <a:rPr lang="en-US" sz="2000" dirty="0" err="1"/>
              <a:t>ruan</a:t>
            </a:r>
            <a:r>
              <a:rPr lang="en-US" sz="2000" dirty="0"/>
              <a:t> </a:t>
            </a:r>
            <a:r>
              <a:rPr lang="en-US" sz="2000" dirty="0" err="1"/>
              <a:t>pronësinë</a:t>
            </a:r>
            <a:r>
              <a:rPr lang="en-US" sz="2000" dirty="0"/>
              <a:t> e </a:t>
            </a:r>
            <a:r>
              <a:rPr lang="en-US" sz="2000" dirty="0" err="1"/>
              <a:t>pasurisë</a:t>
            </a:r>
            <a:r>
              <a:rPr lang="en-US" sz="2000" dirty="0"/>
              <a:t>, </a:t>
            </a:r>
            <a:r>
              <a:rPr lang="en-US" sz="2000" dirty="0" err="1"/>
              <a:t>ndërsa</a:t>
            </a:r>
            <a:r>
              <a:rPr lang="en-US" sz="2000" dirty="0"/>
              <a:t> </a:t>
            </a:r>
            <a:r>
              <a:rPr lang="en-US" sz="2000" dirty="0" err="1"/>
              <a:t>qiramarrësi</a:t>
            </a:r>
            <a:r>
              <a:rPr lang="en-US" sz="2000" dirty="0"/>
              <a:t> </a:t>
            </a:r>
            <a:r>
              <a:rPr lang="en-US" sz="2000" dirty="0" err="1"/>
              <a:t>fiton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drejtën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ta </a:t>
            </a:r>
            <a:r>
              <a:rPr lang="en-US" sz="2000" dirty="0" err="1"/>
              <a:t>përdorur</a:t>
            </a:r>
            <a:r>
              <a:rPr lang="en-US" sz="2000" dirty="0"/>
              <a:t> </a:t>
            </a:r>
            <a:r>
              <a:rPr lang="en-US" sz="2000" dirty="0" err="1"/>
              <a:t>atë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Pagesa</a:t>
            </a:r>
            <a:r>
              <a:rPr lang="en-US" sz="2000" b="1" dirty="0"/>
              <a:t> </a:t>
            </a:r>
            <a:r>
              <a:rPr lang="en-US" sz="2000" b="1" dirty="0" err="1"/>
              <a:t>të</a:t>
            </a:r>
            <a:r>
              <a:rPr lang="en-US" sz="2000" b="1" dirty="0"/>
              <a:t> </a:t>
            </a:r>
            <a:r>
              <a:rPr lang="en-US" sz="2000" b="1" dirty="0" err="1"/>
              <a:t>rregullta</a:t>
            </a:r>
            <a:r>
              <a:rPr lang="en-US" sz="2000" b="1" dirty="0"/>
              <a:t>: </a:t>
            </a:r>
            <a:r>
              <a:rPr lang="en-US" sz="2000" dirty="0" err="1"/>
              <a:t>Qiramarrësi</a:t>
            </a:r>
            <a:r>
              <a:rPr lang="en-US" sz="2000" dirty="0"/>
              <a:t> </a:t>
            </a:r>
            <a:r>
              <a:rPr lang="en-US" sz="2000" dirty="0" err="1"/>
              <a:t>paguan</a:t>
            </a:r>
            <a:r>
              <a:rPr lang="en-US" sz="2000" dirty="0"/>
              <a:t> </a:t>
            </a:r>
            <a:r>
              <a:rPr lang="en-US" sz="2000" dirty="0" err="1"/>
              <a:t>qira</a:t>
            </a:r>
            <a:r>
              <a:rPr lang="en-US" sz="2000" dirty="0"/>
              <a:t> </a:t>
            </a:r>
            <a:r>
              <a:rPr lang="en-US" sz="2000" dirty="0" err="1"/>
              <a:t>periodike</a:t>
            </a:r>
            <a:r>
              <a:rPr lang="en-US" sz="2000" dirty="0"/>
              <a:t> (</a:t>
            </a:r>
            <a:r>
              <a:rPr lang="en-US" sz="2000" dirty="0" err="1"/>
              <a:t>mujore</a:t>
            </a:r>
            <a:r>
              <a:rPr lang="en-US" sz="2000" dirty="0"/>
              <a:t>, </a:t>
            </a:r>
            <a:r>
              <a:rPr lang="en-US" sz="2000" dirty="0" err="1"/>
              <a:t>tremujore</a:t>
            </a:r>
            <a:r>
              <a:rPr lang="en-US" sz="2000" dirty="0"/>
              <a:t>, </a:t>
            </a:r>
            <a:r>
              <a:rPr lang="en-US" sz="2000" dirty="0" err="1"/>
              <a:t>etj</a:t>
            </a:r>
            <a:r>
              <a:rPr lang="en-US" sz="2000" dirty="0"/>
              <a:t>.).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Kohëzgjatja</a:t>
            </a:r>
            <a:r>
              <a:rPr lang="en-US" sz="2000" b="1" dirty="0"/>
              <a:t>: </a:t>
            </a:r>
            <a:r>
              <a:rPr lang="en-US" sz="2000" dirty="0" err="1"/>
              <a:t>Afati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qirasë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përcaktuar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dakorduar</a:t>
            </a:r>
            <a:r>
              <a:rPr lang="en-US" sz="2000" dirty="0"/>
              <a:t> </a:t>
            </a:r>
            <a:r>
              <a:rPr lang="en-US" sz="2000" dirty="0" err="1"/>
              <a:t>paraprakisht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Opsionet</a:t>
            </a:r>
            <a:r>
              <a:rPr lang="en-US" sz="2000" b="1" dirty="0"/>
              <a:t> </a:t>
            </a:r>
            <a:r>
              <a:rPr lang="en-US" sz="2000" b="1" dirty="0" err="1"/>
              <a:t>në</a:t>
            </a:r>
            <a:r>
              <a:rPr lang="en-US" sz="2000" b="1" dirty="0"/>
              <a:t> fund: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varësi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llojit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qirasë</a:t>
            </a:r>
            <a:r>
              <a:rPr lang="en-US" sz="2000" dirty="0"/>
              <a:t>, </a:t>
            </a:r>
            <a:r>
              <a:rPr lang="en-US" sz="2000" dirty="0" err="1"/>
              <a:t>qiramarrësi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ketë</a:t>
            </a:r>
            <a:r>
              <a:rPr lang="en-US" sz="2000" dirty="0"/>
              <a:t> </a:t>
            </a:r>
            <a:r>
              <a:rPr lang="en-US" sz="2000" dirty="0" err="1"/>
              <a:t>mundësinë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kthejë</a:t>
            </a:r>
            <a:r>
              <a:rPr lang="en-US" sz="2000" dirty="0"/>
              <a:t> </a:t>
            </a:r>
            <a:r>
              <a:rPr lang="en-US" sz="2000" dirty="0" err="1"/>
              <a:t>pasurinë</a:t>
            </a:r>
            <a:r>
              <a:rPr lang="en-US" sz="2000" dirty="0"/>
              <a:t>,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rinovojë</a:t>
            </a:r>
            <a:r>
              <a:rPr lang="en-US" sz="2000" dirty="0"/>
              <a:t> </a:t>
            </a:r>
            <a:r>
              <a:rPr lang="en-US" sz="2000" dirty="0" err="1"/>
              <a:t>qiranë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ta </a:t>
            </a:r>
            <a:r>
              <a:rPr lang="en-US" sz="2000" dirty="0" err="1"/>
              <a:t>blejë</a:t>
            </a:r>
            <a:r>
              <a:rPr lang="en-US" sz="2000" dirty="0"/>
              <a:t> </a:t>
            </a:r>
            <a:r>
              <a:rPr lang="en-US" sz="2000" dirty="0" err="1"/>
              <a:t>pasurinë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Llojet</a:t>
            </a:r>
            <a:r>
              <a:rPr lang="en-US" sz="2000" b="1" dirty="0"/>
              <a:t> e </a:t>
            </a:r>
            <a:r>
              <a:rPr lang="en-US" sz="2000" b="1" dirty="0" err="1"/>
              <a:t>Qirasë</a:t>
            </a:r>
            <a:r>
              <a:rPr lang="en-US" sz="2000" b="1" dirty="0"/>
              <a:t>:</a:t>
            </a:r>
          </a:p>
          <a:p>
            <a:pPr marL="114300" lvl="0" indent="0">
              <a:buNone/>
            </a:pPr>
            <a:endParaRPr lang="en-US" sz="2000" b="1" dirty="0"/>
          </a:p>
          <a:p>
            <a:pPr marL="114300" lvl="0" indent="0">
              <a:buNone/>
            </a:pPr>
            <a:r>
              <a:rPr lang="en-US" sz="2000" b="1" dirty="0" err="1"/>
              <a:t>Qira</a:t>
            </a:r>
            <a:r>
              <a:rPr lang="en-US" sz="2000" b="1" dirty="0"/>
              <a:t> Operative: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qira</a:t>
            </a:r>
            <a:r>
              <a:rPr lang="en-US" sz="2000" dirty="0"/>
              <a:t> </a:t>
            </a:r>
            <a:r>
              <a:rPr lang="en-US" sz="2000" dirty="0" err="1"/>
              <a:t>afatshkurtër</a:t>
            </a:r>
            <a:r>
              <a:rPr lang="en-US" sz="2000" dirty="0"/>
              <a:t> </a:t>
            </a:r>
            <a:r>
              <a:rPr lang="en-US" sz="2000" dirty="0" err="1"/>
              <a:t>ku</a:t>
            </a:r>
            <a:r>
              <a:rPr lang="en-US" sz="2000" dirty="0"/>
              <a:t> </a:t>
            </a:r>
            <a:r>
              <a:rPr lang="en-US" sz="2000" dirty="0" err="1"/>
              <a:t>qiramarrësi</a:t>
            </a:r>
            <a:r>
              <a:rPr lang="en-US" sz="2000" dirty="0"/>
              <a:t> </a:t>
            </a:r>
            <a:r>
              <a:rPr lang="en-US" sz="2000" dirty="0" err="1"/>
              <a:t>përdor</a:t>
            </a:r>
            <a:r>
              <a:rPr lang="en-US" sz="2000" dirty="0"/>
              <a:t> </a:t>
            </a:r>
            <a:r>
              <a:rPr lang="en-US" sz="2000" dirty="0" err="1"/>
              <a:t>pasurinë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e </a:t>
            </a:r>
            <a:r>
              <a:rPr lang="en-US" sz="2000" dirty="0" err="1"/>
              <a:t>kthen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fund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afatit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qirasë</a:t>
            </a:r>
            <a:r>
              <a:rPr lang="en-US" sz="2000" dirty="0"/>
              <a:t>. </a:t>
            </a:r>
            <a:r>
              <a:rPr lang="en-US" sz="2000" dirty="0" err="1"/>
              <a:t>Mirëmbajtja</a:t>
            </a:r>
            <a:r>
              <a:rPr lang="en-US" sz="2000" dirty="0"/>
              <a:t> </a:t>
            </a:r>
            <a:r>
              <a:rPr lang="en-US" sz="2000" dirty="0" err="1"/>
              <a:t>zakonisht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</a:t>
            </a:r>
            <a:r>
              <a:rPr lang="en-US" sz="2000" dirty="0" err="1"/>
              <a:t>përgjegjësi</a:t>
            </a:r>
            <a:r>
              <a:rPr lang="en-US" sz="2000" dirty="0"/>
              <a:t> e </a:t>
            </a:r>
            <a:r>
              <a:rPr lang="en-US" sz="2000" dirty="0" err="1"/>
              <a:t>qiradhënësit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sz="2000" b="1" dirty="0"/>
          </a:p>
          <a:p>
            <a:pPr marL="114300" lvl="0" indent="0">
              <a:buNone/>
            </a:pPr>
            <a:r>
              <a:rPr lang="en-US" sz="2000" b="1" dirty="0" err="1"/>
              <a:t>Qira</a:t>
            </a:r>
            <a:r>
              <a:rPr lang="en-US" sz="2000" b="1" dirty="0"/>
              <a:t> </a:t>
            </a:r>
            <a:r>
              <a:rPr lang="en-US" sz="2000" b="1" dirty="0" err="1"/>
              <a:t>Financiare</a:t>
            </a:r>
            <a:r>
              <a:rPr lang="en-US" sz="2000" b="1" dirty="0"/>
              <a:t> (Kapital):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qira</a:t>
            </a:r>
            <a:r>
              <a:rPr lang="en-US" sz="2000" dirty="0"/>
              <a:t> </a:t>
            </a:r>
            <a:r>
              <a:rPr lang="en-US" sz="2000" dirty="0" err="1"/>
              <a:t>afatgjatë</a:t>
            </a:r>
            <a:r>
              <a:rPr lang="en-US" sz="2000" dirty="0"/>
              <a:t> </a:t>
            </a:r>
            <a:r>
              <a:rPr lang="en-US" sz="2000" dirty="0" err="1"/>
              <a:t>ku</a:t>
            </a:r>
            <a:r>
              <a:rPr lang="en-US" sz="2000" dirty="0"/>
              <a:t> </a:t>
            </a:r>
            <a:r>
              <a:rPr lang="en-US" sz="2000" dirty="0" err="1"/>
              <a:t>qiramarrësi</a:t>
            </a:r>
            <a:r>
              <a:rPr lang="en-US" sz="2000" dirty="0"/>
              <a:t> </a:t>
            </a:r>
            <a:r>
              <a:rPr lang="en-US" sz="2000" dirty="0" err="1"/>
              <a:t>përdor</a:t>
            </a:r>
            <a:r>
              <a:rPr lang="en-US" sz="2000" dirty="0"/>
              <a:t> </a:t>
            </a:r>
            <a:r>
              <a:rPr lang="en-US" sz="2000" dirty="0" err="1"/>
              <a:t>pasurinë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pjesën</a:t>
            </a:r>
            <a:r>
              <a:rPr lang="en-US" sz="2000" dirty="0"/>
              <a:t> </a:t>
            </a:r>
            <a:r>
              <a:rPr lang="en-US" sz="2000" dirty="0" err="1"/>
              <a:t>më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madhe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jetës</a:t>
            </a:r>
            <a:r>
              <a:rPr lang="en-US" sz="2000" dirty="0"/>
              <a:t> </a:t>
            </a:r>
            <a:r>
              <a:rPr lang="en-US" sz="2000" dirty="0" err="1"/>
              <a:t>së</a:t>
            </a:r>
            <a:r>
              <a:rPr lang="en-US" sz="2000" dirty="0"/>
              <a:t> </a:t>
            </a:r>
            <a:r>
              <a:rPr lang="en-US" sz="2000" dirty="0" err="1"/>
              <a:t>saj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dobishme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ketë</a:t>
            </a:r>
            <a:r>
              <a:rPr lang="en-US" sz="2000" dirty="0"/>
              <a:t> </a:t>
            </a:r>
            <a:r>
              <a:rPr lang="en-US" sz="2000" dirty="0" err="1"/>
              <a:t>opsionin</a:t>
            </a:r>
            <a:r>
              <a:rPr lang="en-US" sz="2000" dirty="0"/>
              <a:t> ta </a:t>
            </a:r>
            <a:r>
              <a:rPr lang="en-US" sz="2000" dirty="0" err="1"/>
              <a:t>blejë</a:t>
            </a:r>
            <a:r>
              <a:rPr lang="en-US" sz="2000" dirty="0"/>
              <a:t> </a:t>
            </a:r>
            <a:r>
              <a:rPr lang="en-US" sz="2000" dirty="0" err="1"/>
              <a:t>pasurinë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fund.</a:t>
            </a:r>
          </a:p>
          <a:p>
            <a:pPr marL="114300" lvl="0" indent="0">
              <a:buNone/>
            </a:pPr>
            <a:endParaRPr lang="en-US" dirty="0"/>
          </a:p>
          <a:p>
            <a:pPr marL="11430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887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FINANCIMI ME DHENIE ME QIRA - Leasing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lvl="0" indent="0">
              <a:buNone/>
            </a:pPr>
            <a:r>
              <a:rPr lang="en-US" sz="2000" b="1" dirty="0" err="1"/>
              <a:t>Shembull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 </a:t>
            </a:r>
            <a:r>
              <a:rPr lang="en-US" sz="2000" b="1" dirty="0" err="1"/>
              <a:t>Financimit</a:t>
            </a:r>
            <a:r>
              <a:rPr lang="en-US" sz="2000" b="1" dirty="0"/>
              <a:t> me </a:t>
            </a:r>
            <a:r>
              <a:rPr lang="en-US" sz="2000" b="1" dirty="0" err="1"/>
              <a:t>Qira</a:t>
            </a:r>
            <a:r>
              <a:rPr lang="en-US" sz="2000" b="1" dirty="0"/>
              <a:t>: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, XYZ Logistics, ka </a:t>
            </a:r>
            <a:r>
              <a:rPr lang="en-US" sz="2000" dirty="0" err="1"/>
              <a:t>nevojë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kamionë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zgjeruar</a:t>
            </a:r>
            <a:r>
              <a:rPr lang="en-US" sz="2000" dirty="0"/>
              <a:t> </a:t>
            </a:r>
            <a:r>
              <a:rPr lang="en-US" sz="2000" dirty="0" err="1"/>
              <a:t>operacionet</a:t>
            </a:r>
            <a:r>
              <a:rPr lang="en-US" sz="2000" dirty="0"/>
              <a:t> e </a:t>
            </a:r>
            <a:r>
              <a:rPr lang="en-US" sz="2000" dirty="0" err="1"/>
              <a:t>saj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shpërndarjes</a:t>
            </a:r>
            <a:r>
              <a:rPr lang="en-US" sz="2000" dirty="0"/>
              <a:t>. </a:t>
            </a:r>
            <a:r>
              <a:rPr lang="en-US" sz="2000" dirty="0" err="1"/>
              <a:t>Megjithatë</a:t>
            </a:r>
            <a:r>
              <a:rPr lang="en-US" sz="2000" dirty="0"/>
              <a:t>, </a:t>
            </a:r>
            <a:r>
              <a:rPr lang="en-US" sz="2000" dirty="0" err="1"/>
              <a:t>nuk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përballojë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blejë</a:t>
            </a:r>
            <a:r>
              <a:rPr lang="en-US" sz="2000" dirty="0"/>
              <a:t> </a:t>
            </a:r>
            <a:r>
              <a:rPr lang="en-US" sz="2000" dirty="0" err="1"/>
              <a:t>kamionët</a:t>
            </a:r>
            <a:r>
              <a:rPr lang="en-US" sz="2000" dirty="0"/>
              <a:t> </a:t>
            </a:r>
            <a:r>
              <a:rPr lang="en-US" sz="2000" dirty="0" err="1"/>
              <a:t>menjëherë</a:t>
            </a:r>
            <a:r>
              <a:rPr lang="en-US" sz="2000" dirty="0"/>
              <a:t>, </a:t>
            </a:r>
            <a:r>
              <a:rPr lang="en-US" sz="2000" dirty="0" err="1"/>
              <a:t>pasi</a:t>
            </a:r>
            <a:r>
              <a:rPr lang="en-US" sz="2000" dirty="0"/>
              <a:t> </a:t>
            </a:r>
            <a:r>
              <a:rPr lang="en-US" sz="2000" dirty="0" err="1"/>
              <a:t>secili</a:t>
            </a:r>
            <a:r>
              <a:rPr lang="en-US" sz="2000" dirty="0"/>
              <a:t> </a:t>
            </a:r>
            <a:r>
              <a:rPr lang="en-US" sz="2000" dirty="0" err="1"/>
              <a:t>kushton</a:t>
            </a:r>
            <a:r>
              <a:rPr lang="en-US" sz="2000" dirty="0"/>
              <a:t> $100,000.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Marrëveshja</a:t>
            </a:r>
            <a:r>
              <a:rPr lang="en-US" sz="2000" b="1" dirty="0"/>
              <a:t> e </a:t>
            </a:r>
            <a:r>
              <a:rPr lang="en-US" sz="2000" b="1" dirty="0" err="1"/>
              <a:t>Financimit</a:t>
            </a:r>
            <a:r>
              <a:rPr lang="en-US" sz="2000" b="1" dirty="0"/>
              <a:t> me </a:t>
            </a:r>
            <a:r>
              <a:rPr lang="en-US" sz="2000" b="1" dirty="0" err="1"/>
              <a:t>Qira</a:t>
            </a:r>
            <a:r>
              <a:rPr lang="en-US" sz="2000" b="1" dirty="0"/>
              <a:t>:</a:t>
            </a:r>
          </a:p>
          <a:p>
            <a:pPr marL="114300" lvl="0" indent="0">
              <a:buNone/>
            </a:pPr>
            <a:r>
              <a:rPr lang="en-US" sz="2000" dirty="0"/>
              <a:t>XYZ Logistics </a:t>
            </a:r>
            <a:r>
              <a:rPr lang="en-US" sz="2000" dirty="0" err="1"/>
              <a:t>hyn</a:t>
            </a:r>
            <a:r>
              <a:rPr lang="en-US" sz="2000" dirty="0"/>
              <a:t> </a:t>
            </a:r>
            <a:r>
              <a:rPr lang="en-US" sz="2000" dirty="0" err="1"/>
              <a:t>në</a:t>
            </a:r>
            <a:r>
              <a:rPr lang="en-US" sz="2000" dirty="0"/>
              <a:t>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marrëveshje</a:t>
            </a:r>
            <a:r>
              <a:rPr lang="en-US" sz="2000" dirty="0"/>
              <a:t> </a:t>
            </a:r>
            <a:r>
              <a:rPr lang="en-US" sz="2000" dirty="0" err="1"/>
              <a:t>qiraje</a:t>
            </a:r>
            <a:r>
              <a:rPr lang="en-US" sz="2000" dirty="0"/>
              <a:t> me </a:t>
            </a:r>
            <a:r>
              <a:rPr lang="en-US" sz="2000" dirty="0" err="1"/>
              <a:t>një</a:t>
            </a:r>
            <a:r>
              <a:rPr lang="en-US" sz="2000" dirty="0"/>
              <a:t> </a:t>
            </a:r>
            <a:r>
              <a:rPr lang="en-US" sz="2000" dirty="0" err="1"/>
              <a:t>kompani</a:t>
            </a:r>
            <a:r>
              <a:rPr lang="en-US" sz="2000" dirty="0"/>
              <a:t> </a:t>
            </a:r>
            <a:r>
              <a:rPr lang="en-US" sz="2000" dirty="0" err="1"/>
              <a:t>leasingu</a:t>
            </a:r>
            <a:r>
              <a:rPr lang="en-US" sz="2000" dirty="0"/>
              <a:t>, Fleet Rentals Ltd.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b="1" dirty="0" err="1"/>
              <a:t>Kushtet</a:t>
            </a:r>
            <a:r>
              <a:rPr lang="en-US" sz="2000" b="1" dirty="0"/>
              <a:t> e </a:t>
            </a:r>
            <a:r>
              <a:rPr lang="en-US" sz="2000" b="1" dirty="0" err="1"/>
              <a:t>qirasë</a:t>
            </a:r>
            <a:r>
              <a:rPr lang="en-US" sz="2000" b="1" dirty="0"/>
              <a:t>: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Kohëzgjatja</a:t>
            </a:r>
            <a:r>
              <a:rPr lang="en-US" sz="2000" dirty="0"/>
              <a:t> e </a:t>
            </a:r>
            <a:r>
              <a:rPr lang="en-US" sz="2000" dirty="0" err="1"/>
              <a:t>qirasë</a:t>
            </a:r>
            <a:r>
              <a:rPr lang="en-US" sz="2000" dirty="0"/>
              <a:t>: 5 </a:t>
            </a:r>
            <a:r>
              <a:rPr lang="en-US" sz="2000" dirty="0" err="1"/>
              <a:t>vjet</a:t>
            </a: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Pagesa</a:t>
            </a:r>
            <a:r>
              <a:rPr lang="en-US" sz="2000" dirty="0"/>
              <a:t> </a:t>
            </a:r>
            <a:r>
              <a:rPr lang="en-US" sz="2000" dirty="0" err="1"/>
              <a:t>mujore</a:t>
            </a:r>
            <a:r>
              <a:rPr lang="en-US" sz="2000" dirty="0"/>
              <a:t> e </a:t>
            </a:r>
            <a:r>
              <a:rPr lang="en-US" sz="2000" dirty="0" err="1"/>
              <a:t>qirasë</a:t>
            </a:r>
            <a:r>
              <a:rPr lang="en-US" sz="2000" dirty="0"/>
              <a:t>: $2,000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kamion</a:t>
            </a: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Opsioni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blerë</a:t>
            </a:r>
            <a:r>
              <a:rPr lang="en-US" sz="2000" dirty="0"/>
              <a:t>: </a:t>
            </a:r>
            <a:r>
              <a:rPr lang="en-US" sz="2000" dirty="0" err="1"/>
              <a:t>Në</a:t>
            </a:r>
            <a:r>
              <a:rPr lang="en-US" sz="2000" dirty="0"/>
              <a:t> fund </a:t>
            </a:r>
            <a:r>
              <a:rPr lang="en-US" sz="2000" dirty="0" err="1"/>
              <a:t>të</a:t>
            </a:r>
            <a:r>
              <a:rPr lang="en-US" sz="2000" dirty="0"/>
              <a:t> 5 </a:t>
            </a:r>
            <a:r>
              <a:rPr lang="en-US" sz="2000" dirty="0" err="1"/>
              <a:t>viteve</a:t>
            </a:r>
            <a:r>
              <a:rPr lang="en-US" sz="2000" dirty="0"/>
              <a:t>, XYZ Logistics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blejë</a:t>
            </a:r>
            <a:r>
              <a:rPr lang="en-US" sz="2000" dirty="0"/>
              <a:t> </a:t>
            </a:r>
            <a:r>
              <a:rPr lang="en-US" sz="2000" dirty="0" err="1"/>
              <a:t>çdo</a:t>
            </a:r>
            <a:r>
              <a:rPr lang="en-US" sz="2000" dirty="0"/>
              <a:t> </a:t>
            </a:r>
            <a:r>
              <a:rPr lang="en-US" sz="2000" dirty="0" err="1"/>
              <a:t>kamion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$20,000.</a:t>
            </a:r>
          </a:p>
          <a:p>
            <a:pPr marL="114300" lvl="0" indent="0">
              <a:buNone/>
            </a:pPr>
            <a:r>
              <a:rPr lang="en-US" sz="2000" dirty="0"/>
              <a:t>Fleet Rentals Ltd. </a:t>
            </a:r>
            <a:r>
              <a:rPr lang="en-US" sz="2000" dirty="0" err="1"/>
              <a:t>mbetet</a:t>
            </a:r>
            <a:r>
              <a:rPr lang="en-US" sz="2000" dirty="0"/>
              <a:t> </a:t>
            </a:r>
            <a:r>
              <a:rPr lang="en-US" sz="2000" dirty="0" err="1"/>
              <a:t>pronar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kamionëve</a:t>
            </a:r>
            <a:r>
              <a:rPr lang="en-US" sz="2000" dirty="0"/>
              <a:t> </a:t>
            </a:r>
            <a:r>
              <a:rPr lang="en-US" sz="2000" dirty="0" err="1"/>
              <a:t>gjatë</a:t>
            </a:r>
            <a:r>
              <a:rPr lang="en-US" sz="2000" dirty="0"/>
              <a:t> </a:t>
            </a:r>
            <a:r>
              <a:rPr lang="en-US" sz="2000" dirty="0" err="1"/>
              <a:t>afatit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qirasë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dirty="0"/>
          </a:p>
          <a:p>
            <a:pPr marL="11430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99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FINANCIMI ME DHENIE ME QIRA - Leasing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lvl="0" indent="0">
              <a:buNone/>
            </a:pPr>
            <a:r>
              <a:rPr lang="en-US" sz="2000" b="1" dirty="0" err="1"/>
              <a:t>Përfitimet</a:t>
            </a:r>
            <a:r>
              <a:rPr lang="en-US" sz="2000" b="1" dirty="0"/>
              <a:t>: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Për</a:t>
            </a:r>
            <a:r>
              <a:rPr lang="en-US" sz="2000" dirty="0"/>
              <a:t> XYZ Logistics (</a:t>
            </a:r>
            <a:r>
              <a:rPr lang="en-US" sz="2000" dirty="0" err="1"/>
              <a:t>Qiramarrësi</a:t>
            </a:r>
            <a:r>
              <a:rPr lang="en-US" sz="2000" dirty="0"/>
              <a:t>):</a:t>
            </a:r>
          </a:p>
          <a:p>
            <a:pPr marL="114300" lvl="0" indent="0">
              <a:buNone/>
            </a:pPr>
            <a:r>
              <a:rPr lang="en-US" sz="2000" dirty="0" err="1"/>
              <a:t>Merr</a:t>
            </a:r>
            <a:r>
              <a:rPr lang="en-US" sz="2000" dirty="0"/>
              <a:t> </a:t>
            </a:r>
            <a:r>
              <a:rPr lang="en-US" sz="2000" dirty="0" err="1"/>
              <a:t>kamionët</a:t>
            </a:r>
            <a:r>
              <a:rPr lang="en-US" sz="2000" dirty="0"/>
              <a:t> pa </a:t>
            </a:r>
            <a:r>
              <a:rPr lang="en-US" sz="2000" dirty="0" err="1"/>
              <a:t>nevojë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investim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madh</a:t>
            </a:r>
            <a:r>
              <a:rPr lang="en-US" sz="2000" dirty="0"/>
              <a:t> </a:t>
            </a:r>
            <a:r>
              <a:rPr lang="en-US" sz="2000" dirty="0" err="1"/>
              <a:t>fillestar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r>
              <a:rPr lang="en-US" sz="2000" dirty="0" err="1"/>
              <a:t>Ruan</a:t>
            </a:r>
            <a:r>
              <a:rPr lang="en-US" sz="2000" dirty="0"/>
              <a:t> </a:t>
            </a:r>
            <a:r>
              <a:rPr lang="en-US" sz="2000" dirty="0" err="1"/>
              <a:t>fluksin</a:t>
            </a:r>
            <a:r>
              <a:rPr lang="en-US" sz="2000" dirty="0"/>
              <a:t> e </a:t>
            </a:r>
            <a:r>
              <a:rPr lang="en-US" sz="2000" dirty="0" err="1"/>
              <a:t>parasë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nevoja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tjera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biznesit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r>
              <a:rPr lang="en-US" sz="2000" dirty="0" err="1"/>
              <a:t>Opsioni</a:t>
            </a:r>
            <a:r>
              <a:rPr lang="en-US" sz="2000" dirty="0"/>
              <a:t> </a:t>
            </a:r>
            <a:r>
              <a:rPr lang="en-US" sz="2000" dirty="0" err="1"/>
              <a:t>për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blerë</a:t>
            </a:r>
            <a:r>
              <a:rPr lang="en-US" sz="2000" dirty="0"/>
              <a:t> </a:t>
            </a:r>
            <a:r>
              <a:rPr lang="en-US" sz="2000" dirty="0" err="1"/>
              <a:t>kamionët</a:t>
            </a:r>
            <a:r>
              <a:rPr lang="en-US" sz="2000" dirty="0"/>
              <a:t> pas </a:t>
            </a:r>
            <a:r>
              <a:rPr lang="en-US" sz="2000" dirty="0" err="1"/>
              <a:t>afatit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qirasë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sz="2000" dirty="0"/>
          </a:p>
          <a:p>
            <a:pPr marL="114300" lvl="0" indent="0">
              <a:buNone/>
            </a:pPr>
            <a:r>
              <a:rPr lang="en-US" sz="2000" dirty="0" err="1"/>
              <a:t>Për</a:t>
            </a:r>
            <a:r>
              <a:rPr lang="en-US" sz="2000" dirty="0"/>
              <a:t> Fleet Rentals Ltd. (</a:t>
            </a:r>
            <a:r>
              <a:rPr lang="en-US" sz="2000" dirty="0" err="1"/>
              <a:t>Qiradhënësi</a:t>
            </a:r>
            <a:r>
              <a:rPr lang="en-US" sz="2000" dirty="0"/>
              <a:t>):</a:t>
            </a:r>
          </a:p>
          <a:p>
            <a:pPr marL="114300" lvl="0" indent="0">
              <a:buNone/>
            </a:pPr>
            <a:r>
              <a:rPr lang="en-US" sz="2000" dirty="0" err="1"/>
              <a:t>Gjeneron</a:t>
            </a:r>
            <a:r>
              <a:rPr lang="en-US" sz="2000" dirty="0"/>
              <a:t> </a:t>
            </a:r>
            <a:r>
              <a:rPr lang="en-US" sz="2000" dirty="0" err="1"/>
              <a:t>të</a:t>
            </a:r>
            <a:r>
              <a:rPr lang="en-US" sz="2000" dirty="0"/>
              <a:t> </a:t>
            </a:r>
            <a:r>
              <a:rPr lang="en-US" sz="2000" dirty="0" err="1"/>
              <a:t>ardhura</a:t>
            </a:r>
            <a:r>
              <a:rPr lang="en-US" sz="2000" dirty="0"/>
              <a:t> </a:t>
            </a:r>
            <a:r>
              <a:rPr lang="en-US" sz="2000" dirty="0" err="1"/>
              <a:t>nga</a:t>
            </a:r>
            <a:r>
              <a:rPr lang="en-US" sz="2000" dirty="0"/>
              <a:t> </a:t>
            </a:r>
            <a:r>
              <a:rPr lang="en-US" sz="2000" dirty="0" err="1"/>
              <a:t>pagesat</a:t>
            </a:r>
            <a:r>
              <a:rPr lang="en-US" sz="2000" dirty="0"/>
              <a:t> e </a:t>
            </a:r>
            <a:r>
              <a:rPr lang="en-US" sz="2000" dirty="0" err="1"/>
              <a:t>qirasë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r>
              <a:rPr lang="en-US" sz="2000" dirty="0" err="1"/>
              <a:t>Ruaj</a:t>
            </a:r>
            <a:r>
              <a:rPr lang="en-US" sz="2000" dirty="0"/>
              <a:t> </a:t>
            </a:r>
            <a:r>
              <a:rPr lang="en-US" sz="2000" dirty="0" err="1"/>
              <a:t>pronësinë</a:t>
            </a:r>
            <a:r>
              <a:rPr lang="en-US" sz="2000" dirty="0"/>
              <a:t> e </a:t>
            </a:r>
            <a:r>
              <a:rPr lang="en-US" sz="2000" dirty="0" err="1"/>
              <a:t>kamionëve</a:t>
            </a:r>
            <a:r>
              <a:rPr lang="en-US" sz="2000" dirty="0"/>
              <a:t> </a:t>
            </a:r>
            <a:r>
              <a:rPr lang="en-US" sz="2000" dirty="0" err="1"/>
              <a:t>dhe</a:t>
            </a:r>
            <a:r>
              <a:rPr lang="en-US" sz="2000" dirty="0"/>
              <a:t> </a:t>
            </a:r>
            <a:r>
              <a:rPr lang="en-US" sz="2000" dirty="0" err="1"/>
              <a:t>mund</a:t>
            </a:r>
            <a:r>
              <a:rPr lang="en-US" sz="2000" dirty="0"/>
              <a:t> </a:t>
            </a:r>
            <a:r>
              <a:rPr lang="en-US" sz="2000" dirty="0" err="1"/>
              <a:t>t’i</a:t>
            </a:r>
            <a:r>
              <a:rPr lang="en-US" sz="2000" dirty="0"/>
              <a:t> </a:t>
            </a:r>
            <a:r>
              <a:rPr lang="en-US" sz="2000" dirty="0" err="1"/>
              <a:t>rishesë</a:t>
            </a:r>
            <a:r>
              <a:rPr lang="en-US" sz="2000" dirty="0"/>
              <a:t> </a:t>
            </a:r>
            <a:r>
              <a:rPr lang="en-US" sz="2000" dirty="0" err="1"/>
              <a:t>ose</a:t>
            </a:r>
            <a:r>
              <a:rPr lang="en-US" sz="2000" dirty="0"/>
              <a:t> </a:t>
            </a:r>
            <a:r>
              <a:rPr lang="en-US" sz="2000" dirty="0" err="1"/>
              <a:t>t’i</a:t>
            </a:r>
            <a:r>
              <a:rPr lang="en-US" sz="2000" dirty="0"/>
              <a:t> </a:t>
            </a:r>
            <a:r>
              <a:rPr lang="en-US" sz="2000" dirty="0" err="1"/>
              <a:t>japë</a:t>
            </a:r>
            <a:r>
              <a:rPr lang="en-US" sz="2000" dirty="0"/>
              <a:t> me </a:t>
            </a:r>
            <a:r>
              <a:rPr lang="en-US" sz="2000" dirty="0" err="1"/>
              <a:t>qira</a:t>
            </a:r>
            <a:r>
              <a:rPr lang="en-US" sz="2000" dirty="0"/>
              <a:t> </a:t>
            </a:r>
            <a:r>
              <a:rPr lang="en-US" sz="2000" dirty="0" err="1"/>
              <a:t>përsëri</a:t>
            </a:r>
            <a:r>
              <a:rPr lang="en-US" sz="2000" dirty="0"/>
              <a:t> </a:t>
            </a:r>
            <a:r>
              <a:rPr lang="en-US" sz="2000" dirty="0" err="1"/>
              <a:t>nëse</a:t>
            </a:r>
            <a:r>
              <a:rPr lang="en-US" sz="2000" dirty="0"/>
              <a:t> </a:t>
            </a:r>
            <a:r>
              <a:rPr lang="en-US" sz="2000" dirty="0" err="1"/>
              <a:t>është</a:t>
            </a:r>
            <a:r>
              <a:rPr lang="en-US" sz="2000" dirty="0"/>
              <a:t> e </a:t>
            </a:r>
            <a:r>
              <a:rPr lang="en-US" sz="2000" dirty="0" err="1"/>
              <a:t>nevojshme</a:t>
            </a:r>
            <a:r>
              <a:rPr lang="en-US" sz="2000" dirty="0"/>
              <a:t>.</a:t>
            </a:r>
          </a:p>
          <a:p>
            <a:pPr marL="114300" lvl="0" indent="0">
              <a:buNone/>
            </a:pPr>
            <a:endParaRPr lang="en-US" dirty="0"/>
          </a:p>
          <a:p>
            <a:pPr marL="11430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12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FINANCIMI ME DHENIE ME QIRA - Leasing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US" b="1" dirty="0" err="1"/>
              <a:t>Kufizimet</a:t>
            </a:r>
            <a:endParaRPr lang="en-US" b="1" dirty="0"/>
          </a:p>
          <a:p>
            <a:pPr>
              <a:buNone/>
            </a:pPr>
            <a:endParaRPr lang="en-US" dirty="0"/>
          </a:p>
          <a:p>
            <a:pPr lvl="0"/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marrëveshje</a:t>
            </a:r>
            <a:r>
              <a:rPr lang="en-US" dirty="0"/>
              <a:t> </a:t>
            </a:r>
            <a:r>
              <a:rPr lang="en-US" dirty="0" err="1"/>
              <a:t>qiraje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vendosë</a:t>
            </a:r>
            <a:r>
              <a:rPr lang="en-US" dirty="0"/>
              <a:t> </a:t>
            </a:r>
            <a:r>
              <a:rPr lang="en-US" dirty="0" err="1"/>
              <a:t>kufizime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caktuara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përdorimin</a:t>
            </a:r>
            <a:r>
              <a:rPr lang="en-US" dirty="0"/>
              <a:t> e </a:t>
            </a:r>
            <a:r>
              <a:rPr lang="en-US" dirty="0" err="1"/>
              <a:t>aktiveve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Operacionet</a:t>
            </a:r>
            <a:r>
              <a:rPr lang="en-US" dirty="0"/>
              <a:t> </a:t>
            </a:r>
            <a:r>
              <a:rPr lang="en-US" dirty="0" err="1"/>
              <a:t>normale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biznesit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ndikohen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</a:t>
            </a:r>
            <a:r>
              <a:rPr lang="en-US" dirty="0"/>
              <a:t> se </a:t>
            </a:r>
            <a:r>
              <a:rPr lang="en-US" dirty="0" err="1"/>
              <a:t>qiraja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rinovohet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rezultojë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detyrim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</a:t>
            </a:r>
            <a:r>
              <a:rPr lang="en-US" dirty="0" err="1"/>
              <a:t>pagese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</a:t>
            </a:r>
            <a:r>
              <a:rPr lang="en-US" dirty="0"/>
              <a:t> se </a:t>
            </a:r>
            <a:r>
              <a:rPr lang="en-US" dirty="0" err="1"/>
              <a:t>pajisja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rezulton</a:t>
            </a:r>
            <a:r>
              <a:rPr lang="en-US" dirty="0"/>
              <a:t> e </a:t>
            </a:r>
            <a:r>
              <a:rPr lang="en-US" dirty="0" err="1"/>
              <a:t>dobishme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qiramarrësi</a:t>
            </a:r>
            <a:r>
              <a:rPr lang="en-US" dirty="0"/>
              <a:t> </a:t>
            </a:r>
            <a:r>
              <a:rPr lang="en-US" dirty="0" err="1"/>
              <a:t>zgjedh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përfundojë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kohe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marrëveshjes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qirasë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DEPOZITAT PUBLIKE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err="1"/>
              <a:t>Financimi</a:t>
            </a:r>
            <a:r>
              <a:rPr lang="en-US" dirty="0"/>
              <a:t> me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referohet</a:t>
            </a:r>
            <a:r>
              <a:rPr lang="en-US" dirty="0"/>
              <a:t> </a:t>
            </a:r>
            <a:r>
              <a:rPr lang="en-US" dirty="0" err="1"/>
              <a:t>praktikës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biznes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institucion</a:t>
            </a:r>
            <a:r>
              <a:rPr lang="en-US" dirty="0"/>
              <a:t> </a:t>
            </a:r>
            <a:r>
              <a:rPr lang="en-US" dirty="0" err="1"/>
              <a:t>financiar</a:t>
            </a:r>
            <a:r>
              <a:rPr lang="en-US" dirty="0"/>
              <a:t> </a:t>
            </a:r>
            <a:r>
              <a:rPr lang="en-US" dirty="0" err="1"/>
              <a:t>grumbullon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publiku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gjerë</a:t>
            </a:r>
            <a:r>
              <a:rPr lang="en-US" dirty="0"/>
              <a:t> duke </a:t>
            </a:r>
            <a:r>
              <a:rPr lang="en-US" dirty="0" err="1"/>
              <a:t>pranuar</a:t>
            </a:r>
            <a:r>
              <a:rPr lang="en-US" dirty="0"/>
              <a:t> </a:t>
            </a:r>
            <a:r>
              <a:rPr lang="en-US" dirty="0" err="1"/>
              <a:t>depozita</a:t>
            </a:r>
            <a:r>
              <a:rPr lang="en-US" dirty="0"/>
              <a:t>.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 </a:t>
            </a:r>
            <a:r>
              <a:rPr lang="en-US" dirty="0" err="1"/>
              <a:t>përdoren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financuar</a:t>
            </a:r>
            <a:r>
              <a:rPr lang="en-US" dirty="0"/>
              <a:t> </a:t>
            </a:r>
            <a:r>
              <a:rPr lang="en-US" dirty="0" err="1"/>
              <a:t>operacione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investime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. </a:t>
            </a:r>
            <a:r>
              <a:rPr lang="en-US" dirty="0" err="1"/>
              <a:t>Depozitat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afatshkurtra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burim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rëndësishëm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kapitalin</a:t>
            </a:r>
            <a:r>
              <a:rPr lang="en-US" dirty="0"/>
              <a:t> e </a:t>
            </a:r>
            <a:r>
              <a:rPr lang="en-US" dirty="0" err="1"/>
              <a:t>punës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bizneset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Ky </a:t>
            </a:r>
            <a:r>
              <a:rPr lang="en-US" dirty="0" err="1"/>
              <a:t>metodë</a:t>
            </a:r>
            <a:r>
              <a:rPr lang="en-US" dirty="0"/>
              <a:t> </a:t>
            </a:r>
            <a:r>
              <a:rPr lang="en-US" dirty="0" err="1"/>
              <a:t>financimi</a:t>
            </a:r>
            <a:r>
              <a:rPr lang="en-US" dirty="0"/>
              <a:t> </a:t>
            </a:r>
            <a:r>
              <a:rPr lang="en-US" dirty="0" err="1"/>
              <a:t>përdoret</a:t>
            </a:r>
            <a:r>
              <a:rPr lang="en-US" dirty="0"/>
              <a:t> </a:t>
            </a:r>
            <a:r>
              <a:rPr lang="en-US" dirty="0" err="1"/>
              <a:t>shpesh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bankat</a:t>
            </a:r>
            <a:r>
              <a:rPr lang="en-US" dirty="0"/>
              <a:t>, </a:t>
            </a:r>
            <a:r>
              <a:rPr lang="en-US" dirty="0" err="1"/>
              <a:t>institucionet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kompanitë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jo-</a:t>
            </a:r>
            <a:r>
              <a:rPr lang="en-US" dirty="0" err="1"/>
              <a:t>banka</a:t>
            </a:r>
            <a:r>
              <a:rPr lang="en-US" dirty="0"/>
              <a:t> (NBFC)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grumbulluar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. </a:t>
            </a:r>
            <a:r>
              <a:rPr lang="en-US" dirty="0" err="1"/>
              <a:t>Depozitat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përfshijnë</a:t>
            </a:r>
            <a:r>
              <a:rPr lang="en-US" dirty="0"/>
              <a:t>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fikse</a:t>
            </a:r>
            <a:r>
              <a:rPr lang="en-US" dirty="0"/>
              <a:t>, </a:t>
            </a:r>
            <a:r>
              <a:rPr lang="en-US" dirty="0" err="1"/>
              <a:t>llogari</a:t>
            </a:r>
            <a:r>
              <a:rPr lang="en-US" dirty="0"/>
              <a:t> </a:t>
            </a:r>
            <a:r>
              <a:rPr lang="en-US" dirty="0" err="1"/>
              <a:t>kursimi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periodike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individët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entitetet</a:t>
            </a:r>
            <a:r>
              <a:rPr lang="en-US" dirty="0"/>
              <a:t> </a:t>
            </a:r>
            <a:r>
              <a:rPr lang="en-US" dirty="0" err="1"/>
              <a:t>vendosin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institucioni</a:t>
            </a:r>
            <a:r>
              <a:rPr lang="en-US" dirty="0"/>
              <a:t>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këmbim</a:t>
            </a:r>
            <a:r>
              <a:rPr lang="en-US" dirty="0"/>
              <a:t>, </a:t>
            </a:r>
            <a:r>
              <a:rPr lang="en-US" dirty="0" err="1"/>
              <a:t>biznesi</a:t>
            </a:r>
            <a:r>
              <a:rPr lang="en-US" dirty="0"/>
              <a:t>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pagesa</a:t>
            </a:r>
            <a:r>
              <a:rPr lang="en-US" dirty="0"/>
              <a:t> </a:t>
            </a:r>
            <a:r>
              <a:rPr lang="en-US" dirty="0" err="1"/>
              <a:t>interesash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depozituesit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DEPOZITAT PUBLIKE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Si </a:t>
            </a:r>
            <a:r>
              <a:rPr lang="en-US" dirty="0" err="1"/>
              <a:t>Funksionon</a:t>
            </a:r>
            <a:r>
              <a:rPr lang="en-US" dirty="0"/>
              <a:t> </a:t>
            </a:r>
            <a:r>
              <a:rPr lang="en-US" dirty="0" err="1"/>
              <a:t>Financimi</a:t>
            </a:r>
            <a:r>
              <a:rPr lang="en-US" dirty="0"/>
              <a:t> me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b="1" dirty="0" err="1"/>
              <a:t>Grumbullimi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Fondeve</a:t>
            </a:r>
            <a:r>
              <a:rPr lang="en-US" b="1" dirty="0"/>
              <a:t>: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kompani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institucion</a:t>
            </a:r>
            <a:r>
              <a:rPr lang="en-US" dirty="0"/>
              <a:t> </a:t>
            </a:r>
            <a:r>
              <a:rPr lang="en-US" dirty="0" err="1"/>
              <a:t>financiar</a:t>
            </a:r>
            <a:r>
              <a:rPr lang="en-US" dirty="0"/>
              <a:t> </a:t>
            </a:r>
            <a:r>
              <a:rPr lang="en-US" dirty="0" err="1"/>
              <a:t>fton</a:t>
            </a:r>
            <a:r>
              <a:rPr lang="en-US" dirty="0"/>
              <a:t> </a:t>
            </a:r>
            <a:r>
              <a:rPr lang="en-US" dirty="0" err="1"/>
              <a:t>publikun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depozitojë</a:t>
            </a:r>
            <a:r>
              <a:rPr lang="en-US" dirty="0"/>
              <a:t> </a:t>
            </a:r>
            <a:r>
              <a:rPr lang="en-US" dirty="0" err="1"/>
              <a:t>paratë</a:t>
            </a:r>
            <a:r>
              <a:rPr lang="en-US" dirty="0"/>
              <a:t> e </a:t>
            </a:r>
            <a:r>
              <a:rPr lang="en-US" dirty="0" err="1"/>
              <a:t>tij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periudhë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caktuar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premton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paguajë</a:t>
            </a:r>
            <a:r>
              <a:rPr lang="en-US" dirty="0"/>
              <a:t>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depozita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Përdorimi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Fondeve</a:t>
            </a:r>
            <a:r>
              <a:rPr lang="en-US" b="1" dirty="0"/>
              <a:t>: </a:t>
            </a:r>
            <a:r>
              <a:rPr lang="en-US" dirty="0" err="1"/>
              <a:t>Paratë</a:t>
            </a:r>
            <a:r>
              <a:rPr lang="en-US" dirty="0"/>
              <a:t> e </a:t>
            </a:r>
            <a:r>
              <a:rPr lang="en-US" dirty="0" err="1"/>
              <a:t>grumbulluara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publiku</a:t>
            </a:r>
            <a:r>
              <a:rPr lang="en-US" dirty="0"/>
              <a:t> </a:t>
            </a:r>
            <a:r>
              <a:rPr lang="en-US" dirty="0" err="1"/>
              <a:t>përdoren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nevojat</a:t>
            </a:r>
            <a:r>
              <a:rPr lang="en-US" dirty="0"/>
              <a:t> e </a:t>
            </a:r>
            <a:r>
              <a:rPr lang="en-US" dirty="0" err="1"/>
              <a:t>saj</a:t>
            </a:r>
            <a:r>
              <a:rPr lang="en-US" dirty="0"/>
              <a:t> </a:t>
            </a:r>
            <a:r>
              <a:rPr lang="en-US" dirty="0" err="1"/>
              <a:t>operacionale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kapitali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punës</a:t>
            </a:r>
            <a:r>
              <a:rPr lang="en-US" dirty="0"/>
              <a:t>, </a:t>
            </a:r>
            <a:r>
              <a:rPr lang="en-US" dirty="0" err="1"/>
              <a:t>zgjerimi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investimi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projekte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Kthimi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Parave</a:t>
            </a:r>
            <a:r>
              <a:rPr lang="en-US" b="1" dirty="0"/>
              <a:t>: </a:t>
            </a:r>
            <a:r>
              <a:rPr lang="en-US" dirty="0" err="1"/>
              <a:t>Në</a:t>
            </a:r>
            <a:r>
              <a:rPr lang="en-US" dirty="0"/>
              <a:t> fund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periudhës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marrëveshjes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depozitën</a:t>
            </a:r>
            <a:r>
              <a:rPr lang="en-US" dirty="0"/>
              <a:t>, </a:t>
            </a: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kthen</a:t>
            </a:r>
            <a:r>
              <a:rPr lang="en-US" dirty="0"/>
              <a:t> </a:t>
            </a:r>
            <a:r>
              <a:rPr lang="en-US" dirty="0" err="1"/>
              <a:t>shumën</a:t>
            </a:r>
            <a:r>
              <a:rPr lang="en-US" dirty="0"/>
              <a:t> e </a:t>
            </a:r>
            <a:r>
              <a:rPr lang="en-US" dirty="0" err="1"/>
              <a:t>kryesore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depozitës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bashku</a:t>
            </a:r>
            <a:r>
              <a:rPr lang="en-US" dirty="0"/>
              <a:t> me </a:t>
            </a:r>
            <a:r>
              <a:rPr lang="en-US" dirty="0" err="1"/>
              <a:t>interesin</a:t>
            </a:r>
            <a:r>
              <a:rPr lang="en-US" dirty="0"/>
              <a:t> e </a:t>
            </a:r>
            <a:r>
              <a:rPr lang="en-US" dirty="0" err="1"/>
              <a:t>rënë</a:t>
            </a:r>
            <a:r>
              <a:rPr lang="en-US" dirty="0"/>
              <a:t> </a:t>
            </a:r>
            <a:r>
              <a:rPr lang="en-US" dirty="0" err="1"/>
              <a:t>dakord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7831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DEPOZITAT PUBLIKE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 err="1"/>
              <a:t>Shembull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Financimit</a:t>
            </a:r>
            <a:r>
              <a:rPr lang="en-US" b="1" dirty="0"/>
              <a:t> me </a:t>
            </a:r>
            <a:r>
              <a:rPr lang="en-US" b="1" dirty="0" err="1"/>
              <a:t>Depozita</a:t>
            </a:r>
            <a:r>
              <a:rPr lang="en-US" b="1" dirty="0"/>
              <a:t> </a:t>
            </a:r>
            <a:r>
              <a:rPr lang="en-US" b="1" dirty="0" err="1"/>
              <a:t>Publike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kompani</a:t>
            </a:r>
            <a:r>
              <a:rPr lang="en-US" dirty="0"/>
              <a:t>, </a:t>
            </a:r>
            <a:r>
              <a:rPr lang="en-US" dirty="0" err="1"/>
              <a:t>GreenTech</a:t>
            </a:r>
            <a:r>
              <a:rPr lang="en-US" dirty="0"/>
              <a:t> Innovations,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firmë</a:t>
            </a:r>
            <a:r>
              <a:rPr lang="en-US" dirty="0"/>
              <a:t> e re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sektorin</a:t>
            </a:r>
            <a:r>
              <a:rPr lang="en-US" dirty="0"/>
              <a:t> e </a:t>
            </a:r>
            <a:r>
              <a:rPr lang="en-US" dirty="0" err="1"/>
              <a:t>energjisë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rinovueshme</a:t>
            </a:r>
            <a:r>
              <a:rPr lang="en-US" dirty="0"/>
              <a:t>.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financuar</a:t>
            </a:r>
            <a:r>
              <a:rPr lang="en-US" dirty="0"/>
              <a:t> </a:t>
            </a:r>
            <a:r>
              <a:rPr lang="en-US" dirty="0" err="1"/>
              <a:t>projektin</a:t>
            </a:r>
            <a:r>
              <a:rPr lang="en-US" dirty="0"/>
              <a:t> e </a:t>
            </a:r>
            <a:r>
              <a:rPr lang="en-US" dirty="0" err="1"/>
              <a:t>saj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energjisë</a:t>
            </a:r>
            <a:r>
              <a:rPr lang="en-US" dirty="0"/>
              <a:t> </a:t>
            </a:r>
            <a:r>
              <a:rPr lang="en-US" dirty="0" err="1"/>
              <a:t>diellore</a:t>
            </a:r>
            <a:r>
              <a:rPr lang="en-US" dirty="0"/>
              <a:t>, </a:t>
            </a:r>
            <a:r>
              <a:rPr lang="en-US" dirty="0" err="1"/>
              <a:t>kompania</a:t>
            </a:r>
            <a:r>
              <a:rPr lang="en-US" dirty="0"/>
              <a:t> ka </a:t>
            </a:r>
            <a:r>
              <a:rPr lang="en-US" dirty="0" err="1"/>
              <a:t>nevojë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mbledhë</a:t>
            </a:r>
            <a:r>
              <a:rPr lang="en-US" dirty="0"/>
              <a:t> 2 </a:t>
            </a:r>
            <a:r>
              <a:rPr lang="en-US" dirty="0" err="1"/>
              <a:t>milion</a:t>
            </a:r>
            <a:r>
              <a:rPr lang="en-US" dirty="0"/>
              <a:t> </a:t>
            </a:r>
            <a:r>
              <a:rPr lang="en-US" dirty="0" err="1"/>
              <a:t>dollarë</a:t>
            </a:r>
            <a:r>
              <a:rPr lang="en-US" dirty="0"/>
              <a:t>. </a:t>
            </a:r>
            <a:r>
              <a:rPr lang="en-US" dirty="0" err="1"/>
              <a:t>Megjithatë</a:t>
            </a:r>
            <a:r>
              <a:rPr lang="en-US" dirty="0"/>
              <a:t>, ajo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dëshiron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kalojë</a:t>
            </a:r>
            <a:r>
              <a:rPr lang="en-US" dirty="0"/>
              <a:t> </a:t>
            </a:r>
            <a:r>
              <a:rPr lang="en-US" dirty="0" err="1"/>
              <a:t>përmes</a:t>
            </a:r>
            <a:r>
              <a:rPr lang="en-US" dirty="0"/>
              <a:t> </a:t>
            </a:r>
            <a:r>
              <a:rPr lang="en-US" dirty="0" err="1"/>
              <a:t>kredive</a:t>
            </a:r>
            <a:r>
              <a:rPr lang="en-US" dirty="0"/>
              <a:t> </a:t>
            </a:r>
            <a:r>
              <a:rPr lang="en-US" dirty="0" err="1"/>
              <a:t>tradicionale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bankës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kapitalit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rrezikshëm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Marrëveshja</a:t>
            </a:r>
            <a:r>
              <a:rPr lang="en-US" b="1" dirty="0"/>
              <a:t> e </a:t>
            </a:r>
            <a:r>
              <a:rPr lang="en-US" b="1" dirty="0" err="1"/>
              <a:t>Financimit</a:t>
            </a:r>
            <a:r>
              <a:rPr lang="en-US" b="1" dirty="0"/>
              <a:t> me </a:t>
            </a:r>
            <a:r>
              <a:rPr lang="en-US" b="1" dirty="0" err="1"/>
              <a:t>Depozita</a:t>
            </a:r>
            <a:r>
              <a:rPr lang="en-US" b="1" dirty="0"/>
              <a:t> </a:t>
            </a:r>
            <a:r>
              <a:rPr lang="en-US" b="1" dirty="0" err="1"/>
              <a:t>Publike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/>
              <a:t>GreenTech</a:t>
            </a:r>
            <a:r>
              <a:rPr lang="en-US" dirty="0"/>
              <a:t> </a:t>
            </a:r>
            <a:r>
              <a:rPr lang="en-US" dirty="0" err="1"/>
              <a:t>vendos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mbledhë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 duke </a:t>
            </a:r>
            <a:r>
              <a:rPr lang="en-US" dirty="0" err="1"/>
              <a:t>pranuar</a:t>
            </a:r>
            <a:r>
              <a:rPr lang="en-US" dirty="0"/>
              <a:t>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. Ajo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normë</a:t>
            </a:r>
            <a:r>
              <a:rPr lang="en-US" dirty="0"/>
              <a:t> </a:t>
            </a:r>
            <a:r>
              <a:rPr lang="en-US" dirty="0" err="1"/>
              <a:t>interesi</a:t>
            </a:r>
            <a:r>
              <a:rPr lang="en-US" dirty="0"/>
              <a:t> </a:t>
            </a:r>
            <a:r>
              <a:rPr lang="en-US" dirty="0" err="1"/>
              <a:t>prej</a:t>
            </a:r>
            <a:r>
              <a:rPr lang="en-US" dirty="0"/>
              <a:t> 6% </a:t>
            </a:r>
            <a:r>
              <a:rPr lang="en-US" dirty="0" err="1"/>
              <a:t>në</a:t>
            </a:r>
            <a:r>
              <a:rPr lang="en-US" dirty="0"/>
              <a:t> vit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fikse</a:t>
            </a:r>
            <a:r>
              <a:rPr lang="en-US" dirty="0"/>
              <a:t> 1-vjeçare.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fton</a:t>
            </a:r>
            <a:r>
              <a:rPr lang="en-US" dirty="0"/>
              <a:t> </a:t>
            </a:r>
            <a:r>
              <a:rPr lang="en-US" dirty="0" err="1"/>
              <a:t>individë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investitorë</a:t>
            </a:r>
            <a:r>
              <a:rPr lang="en-US" dirty="0"/>
              <a:t> </a:t>
            </a:r>
            <a:r>
              <a:rPr lang="en-US" dirty="0" err="1"/>
              <a:t>institucionalë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depozitojnë</a:t>
            </a:r>
            <a:r>
              <a:rPr lang="en-US" dirty="0"/>
              <a:t> </a:t>
            </a:r>
            <a:r>
              <a:rPr lang="en-US" dirty="0" err="1"/>
              <a:t>paratë</a:t>
            </a:r>
            <a:r>
              <a:rPr lang="en-US" dirty="0"/>
              <a:t> e </a:t>
            </a:r>
            <a:r>
              <a:rPr lang="en-US" dirty="0" err="1"/>
              <a:t>tyre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GreenTech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1 vit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këmbim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interesit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premtuar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grumbullon</a:t>
            </a:r>
            <a:r>
              <a:rPr lang="en-US" dirty="0"/>
              <a:t> 2 </a:t>
            </a:r>
            <a:r>
              <a:rPr lang="en-US" dirty="0" err="1"/>
              <a:t>milion</a:t>
            </a:r>
            <a:r>
              <a:rPr lang="en-US" dirty="0"/>
              <a:t>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publiku</a:t>
            </a:r>
            <a:r>
              <a:rPr lang="en-US" dirty="0"/>
              <a:t> </a:t>
            </a:r>
            <a:r>
              <a:rPr lang="en-US" dirty="0" err="1"/>
              <a:t>përmes</a:t>
            </a:r>
            <a:r>
              <a:rPr lang="en-US" dirty="0"/>
              <a:t> </a:t>
            </a:r>
            <a:r>
              <a:rPr lang="en-US" dirty="0" err="1"/>
              <a:t>këtyre</a:t>
            </a:r>
            <a:r>
              <a:rPr lang="en-US" dirty="0"/>
              <a:t> </a:t>
            </a:r>
            <a:r>
              <a:rPr lang="en-US" dirty="0" err="1"/>
              <a:t>depozitave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4375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DEPOZITAT PUBLIKE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Si </a:t>
            </a:r>
            <a:r>
              <a:rPr lang="en-US" b="1" dirty="0" err="1"/>
              <a:t>Përdoren</a:t>
            </a:r>
            <a:r>
              <a:rPr lang="en-US" b="1" dirty="0"/>
              <a:t> </a:t>
            </a:r>
            <a:r>
              <a:rPr lang="en-US" b="1" dirty="0" err="1"/>
              <a:t>Fonde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r>
              <a:rPr lang="en-US" dirty="0" err="1"/>
              <a:t>GreenTech</a:t>
            </a:r>
            <a:r>
              <a:rPr lang="en-US" dirty="0"/>
              <a:t> </a:t>
            </a:r>
            <a:r>
              <a:rPr lang="en-US" dirty="0" err="1"/>
              <a:t>përdor</a:t>
            </a:r>
            <a:r>
              <a:rPr lang="en-US" dirty="0"/>
              <a:t> 2 </a:t>
            </a:r>
            <a:r>
              <a:rPr lang="en-US" dirty="0" err="1"/>
              <a:t>milion</a:t>
            </a:r>
            <a:r>
              <a:rPr lang="en-US" dirty="0"/>
              <a:t> </a:t>
            </a:r>
            <a:r>
              <a:rPr lang="en-US" dirty="0" err="1"/>
              <a:t>dollarët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investuar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prodhimin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instalimin</a:t>
            </a:r>
            <a:r>
              <a:rPr lang="en-US" dirty="0"/>
              <a:t> e </a:t>
            </a:r>
            <a:r>
              <a:rPr lang="en-US" dirty="0" err="1"/>
              <a:t>paneleve</a:t>
            </a:r>
            <a:r>
              <a:rPr lang="en-US" dirty="0"/>
              <a:t> </a:t>
            </a:r>
            <a:r>
              <a:rPr lang="en-US" dirty="0" err="1"/>
              <a:t>diellore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dirty="0" err="1"/>
              <a:t>Fonde</a:t>
            </a:r>
            <a:r>
              <a:rPr lang="en-US" dirty="0"/>
              <a:t> </a:t>
            </a:r>
            <a:r>
              <a:rPr lang="en-US" dirty="0" err="1"/>
              <a:t>përdoren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blerjen</a:t>
            </a:r>
            <a:r>
              <a:rPr lang="en-US" dirty="0"/>
              <a:t> e </a:t>
            </a:r>
            <a:r>
              <a:rPr lang="en-US" dirty="0" err="1"/>
              <a:t>pajisjeve</a:t>
            </a:r>
            <a:r>
              <a:rPr lang="en-US" dirty="0"/>
              <a:t>, </a:t>
            </a:r>
            <a:r>
              <a:rPr lang="en-US" dirty="0" err="1"/>
              <a:t>materialeve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papërpunuara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angazhimin</a:t>
            </a:r>
            <a:r>
              <a:rPr lang="en-US" dirty="0"/>
              <a:t> e </a:t>
            </a:r>
            <a:r>
              <a:rPr lang="en-US" dirty="0" err="1"/>
              <a:t>stafit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Kthimi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Parave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r>
              <a:rPr lang="en-US" dirty="0"/>
              <a:t>Pas 1 </a:t>
            </a:r>
            <a:r>
              <a:rPr lang="en-US" dirty="0" err="1"/>
              <a:t>viti</a:t>
            </a:r>
            <a:r>
              <a:rPr lang="en-US" dirty="0"/>
              <a:t>, </a:t>
            </a:r>
            <a:r>
              <a:rPr lang="en-US" dirty="0" err="1"/>
              <a:t>GreenTech</a:t>
            </a:r>
            <a:r>
              <a:rPr lang="en-US" dirty="0"/>
              <a:t> </a:t>
            </a:r>
            <a:r>
              <a:rPr lang="en-US" dirty="0" err="1"/>
              <a:t>kthen</a:t>
            </a:r>
            <a:r>
              <a:rPr lang="en-US" dirty="0"/>
              <a:t> 2 </a:t>
            </a:r>
            <a:r>
              <a:rPr lang="en-US" dirty="0" err="1"/>
              <a:t>milion</a:t>
            </a:r>
            <a:r>
              <a:rPr lang="en-US" dirty="0"/>
              <a:t> </a:t>
            </a:r>
            <a:r>
              <a:rPr lang="en-US" dirty="0" err="1"/>
              <a:t>dollarët</a:t>
            </a:r>
            <a:r>
              <a:rPr lang="en-US" dirty="0"/>
              <a:t> e </a:t>
            </a:r>
            <a:r>
              <a:rPr lang="en-US" dirty="0" err="1"/>
              <a:t>kryesore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depozitës</a:t>
            </a:r>
            <a:r>
              <a:rPr lang="en-US" dirty="0"/>
              <a:t>,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bashku</a:t>
            </a:r>
            <a:r>
              <a:rPr lang="en-US" dirty="0"/>
              <a:t> me 6%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depozituesit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797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DEPOZITAT PUBLIKE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dirty="0" err="1"/>
              <a:t>Përfitimet</a:t>
            </a:r>
            <a:r>
              <a:rPr lang="en-US" dirty="0"/>
              <a:t> e </a:t>
            </a:r>
            <a:r>
              <a:rPr lang="en-US" dirty="0" err="1"/>
              <a:t>Financimit</a:t>
            </a:r>
            <a:r>
              <a:rPr lang="en-US" dirty="0"/>
              <a:t> me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Për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Kompaninë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Akses</a:t>
            </a:r>
            <a:r>
              <a:rPr lang="en-US" b="1" dirty="0"/>
              <a:t> </a:t>
            </a:r>
            <a:r>
              <a:rPr lang="en-US" b="1" dirty="0" err="1"/>
              <a:t>në</a:t>
            </a:r>
            <a:r>
              <a:rPr lang="en-US" b="1" dirty="0"/>
              <a:t> Kapital: </a:t>
            </a: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mbledhë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rëndësishme</a:t>
            </a:r>
            <a:r>
              <a:rPr lang="en-US" dirty="0"/>
              <a:t> </a:t>
            </a:r>
            <a:r>
              <a:rPr lang="en-US" dirty="0" err="1"/>
              <a:t>shpejt</a:t>
            </a:r>
            <a:r>
              <a:rPr lang="en-US" dirty="0"/>
              <a:t>, pa </a:t>
            </a:r>
            <a:r>
              <a:rPr lang="en-US" dirty="0" err="1"/>
              <a:t>pasur</a:t>
            </a:r>
            <a:r>
              <a:rPr lang="en-US" dirty="0"/>
              <a:t> </a:t>
            </a:r>
            <a:r>
              <a:rPr lang="en-US" dirty="0" err="1"/>
              <a:t>nevojë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komplikuara</a:t>
            </a:r>
            <a:r>
              <a:rPr lang="en-US" dirty="0"/>
              <a:t> </a:t>
            </a:r>
            <a:r>
              <a:rPr lang="en-US" dirty="0" err="1"/>
              <a:t>huash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japë</a:t>
            </a:r>
            <a:r>
              <a:rPr lang="en-US" dirty="0"/>
              <a:t> </a:t>
            </a:r>
            <a:r>
              <a:rPr lang="en-US" dirty="0" err="1"/>
              <a:t>pjesë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aksioneve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Norma </a:t>
            </a:r>
            <a:r>
              <a:rPr lang="en-US" b="1" dirty="0" err="1"/>
              <a:t>më</a:t>
            </a:r>
            <a:r>
              <a:rPr lang="en-US" b="1" dirty="0"/>
              <a:t>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Ulëta</a:t>
            </a:r>
            <a:r>
              <a:rPr lang="en-US" b="1" dirty="0"/>
              <a:t> </a:t>
            </a:r>
            <a:r>
              <a:rPr lang="en-US" b="1" dirty="0" err="1"/>
              <a:t>Interesi</a:t>
            </a:r>
            <a:r>
              <a:rPr lang="en-US" b="1" dirty="0"/>
              <a:t>: </a:t>
            </a:r>
            <a:r>
              <a:rPr lang="en-US" dirty="0" err="1"/>
              <a:t>Depozitat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norma</a:t>
            </a:r>
            <a:r>
              <a:rPr lang="en-US" dirty="0"/>
              <a:t> </a:t>
            </a:r>
            <a:r>
              <a:rPr lang="en-US" dirty="0" err="1"/>
              <a:t>interesi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ulëta</a:t>
            </a:r>
            <a:r>
              <a:rPr lang="en-US" dirty="0"/>
              <a:t> </a:t>
            </a:r>
            <a:r>
              <a:rPr lang="en-US" dirty="0" err="1"/>
              <a:t>krahasuar</a:t>
            </a:r>
            <a:r>
              <a:rPr lang="en-US" dirty="0"/>
              <a:t> me </a:t>
            </a:r>
            <a:r>
              <a:rPr lang="en-US" dirty="0" err="1"/>
              <a:t>huat</a:t>
            </a:r>
            <a:r>
              <a:rPr lang="en-US" dirty="0"/>
              <a:t> </a:t>
            </a:r>
            <a:r>
              <a:rPr lang="en-US" dirty="0" err="1"/>
              <a:t>bankare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Fleksibilitet</a:t>
            </a:r>
            <a:r>
              <a:rPr lang="en-US" b="1" dirty="0"/>
              <a:t>: </a:t>
            </a: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vendosë</a:t>
            </a:r>
            <a:r>
              <a:rPr lang="en-US" dirty="0"/>
              <a:t> </a:t>
            </a:r>
            <a:r>
              <a:rPr lang="en-US" dirty="0" err="1"/>
              <a:t>kohëzgjatjen</a:t>
            </a:r>
            <a:r>
              <a:rPr lang="en-US" dirty="0"/>
              <a:t> e </a:t>
            </a:r>
            <a:r>
              <a:rPr lang="en-US" dirty="0" err="1"/>
              <a:t>depozitave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t'i</a:t>
            </a:r>
            <a:r>
              <a:rPr lang="en-US" dirty="0"/>
              <a:t> </a:t>
            </a:r>
            <a:r>
              <a:rPr lang="en-US" dirty="0" err="1"/>
              <a:t>përdorë</a:t>
            </a:r>
            <a:r>
              <a:rPr lang="en-US" dirty="0"/>
              <a:t> </a:t>
            </a:r>
            <a:r>
              <a:rPr lang="en-US" dirty="0" err="1"/>
              <a:t>fondet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nevojave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saj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34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DEPOZITAT PUBLIKE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47964"/>
            <a:ext cx="8520600" cy="3924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Për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Depozituesit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Fitime</a:t>
            </a:r>
            <a:r>
              <a:rPr lang="en-US" b="1" dirty="0"/>
              <a:t> </a:t>
            </a:r>
            <a:r>
              <a:rPr lang="en-US" b="1" dirty="0" err="1"/>
              <a:t>nga</a:t>
            </a:r>
            <a:r>
              <a:rPr lang="en-US" b="1" dirty="0"/>
              <a:t> </a:t>
            </a:r>
            <a:r>
              <a:rPr lang="en-US" b="1" dirty="0" err="1"/>
              <a:t>Interesi</a:t>
            </a:r>
            <a:r>
              <a:rPr lang="en-US" b="1" dirty="0"/>
              <a:t>: </a:t>
            </a:r>
            <a:r>
              <a:rPr lang="en-US" dirty="0" err="1"/>
              <a:t>Depozituesit</a:t>
            </a:r>
            <a:r>
              <a:rPr lang="en-US" dirty="0"/>
              <a:t> </a:t>
            </a:r>
            <a:r>
              <a:rPr lang="en-US" dirty="0" err="1"/>
              <a:t>fitojnë</a:t>
            </a:r>
            <a:r>
              <a:rPr lang="en-US" dirty="0"/>
              <a:t>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mbi</a:t>
            </a:r>
            <a:r>
              <a:rPr lang="en-US" dirty="0"/>
              <a:t> </a:t>
            </a:r>
            <a:r>
              <a:rPr lang="en-US" dirty="0" err="1"/>
              <a:t>kursimet</a:t>
            </a:r>
            <a:r>
              <a:rPr lang="en-US" dirty="0"/>
              <a:t> e </a:t>
            </a:r>
            <a:r>
              <a:rPr lang="en-US" dirty="0" err="1"/>
              <a:t>tyre</a:t>
            </a:r>
            <a:r>
              <a:rPr lang="en-US" dirty="0"/>
              <a:t>,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jetë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se </a:t>
            </a:r>
            <a:r>
              <a:rPr lang="en-US" dirty="0" err="1"/>
              <a:t>interesi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llogaritë</a:t>
            </a:r>
            <a:r>
              <a:rPr lang="en-US" dirty="0"/>
              <a:t> </a:t>
            </a:r>
            <a:r>
              <a:rPr lang="en-US" dirty="0" err="1"/>
              <a:t>tradicionale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kursimit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Investim</a:t>
            </a:r>
            <a:r>
              <a:rPr lang="en-US" b="1" dirty="0"/>
              <a:t> </a:t>
            </a:r>
            <a:r>
              <a:rPr lang="en-US" b="1" dirty="0" err="1"/>
              <a:t>Relativisht</a:t>
            </a:r>
            <a:r>
              <a:rPr lang="en-US" b="1" dirty="0"/>
              <a:t>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Sigurt</a:t>
            </a:r>
            <a:r>
              <a:rPr lang="en-US" b="1" dirty="0"/>
              <a:t>: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e </a:t>
            </a:r>
            <a:r>
              <a:rPr lang="en-US" dirty="0" err="1"/>
              <a:t>njohur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e </a:t>
            </a:r>
            <a:r>
              <a:rPr lang="en-US" dirty="0" err="1"/>
              <a:t>besueshme</a:t>
            </a:r>
            <a:r>
              <a:rPr lang="en-US" dirty="0"/>
              <a:t>, </a:t>
            </a:r>
            <a:r>
              <a:rPr lang="en-US" dirty="0" err="1"/>
              <a:t>depozituesit</a:t>
            </a:r>
            <a:r>
              <a:rPr lang="en-US" dirty="0"/>
              <a:t> e </a:t>
            </a:r>
            <a:r>
              <a:rPr lang="en-US" dirty="0" err="1"/>
              <a:t>konsiderojnë</a:t>
            </a:r>
            <a:r>
              <a:rPr lang="en-US" dirty="0"/>
              <a:t> </a:t>
            </a:r>
            <a:r>
              <a:rPr lang="en-US" dirty="0" err="1"/>
              <a:t>financimin</a:t>
            </a:r>
            <a:r>
              <a:rPr lang="en-US" dirty="0"/>
              <a:t> me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mundësi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sigurt</a:t>
            </a:r>
            <a:r>
              <a:rPr lang="en-US" dirty="0"/>
              <a:t> </a:t>
            </a:r>
            <a:r>
              <a:rPr lang="en-US" dirty="0" err="1"/>
              <a:t>investimi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Rreziqe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dhe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Konsiderata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Rreziku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Kredidhënies</a:t>
            </a:r>
            <a:r>
              <a:rPr lang="en-US" b="1" dirty="0"/>
              <a:t>: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kompania</a:t>
            </a:r>
            <a:r>
              <a:rPr lang="en-US" dirty="0"/>
              <a:t> </a:t>
            </a:r>
            <a:r>
              <a:rPr lang="en-US" dirty="0" err="1"/>
              <a:t>përballet</a:t>
            </a:r>
            <a:r>
              <a:rPr lang="en-US" dirty="0"/>
              <a:t> me </a:t>
            </a:r>
            <a:r>
              <a:rPr lang="en-US" dirty="0" err="1"/>
              <a:t>vështirësi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, ka </a:t>
            </a:r>
            <a:r>
              <a:rPr lang="en-US" dirty="0" err="1"/>
              <a:t>rrezik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ajo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kthejë</a:t>
            </a:r>
            <a:r>
              <a:rPr lang="en-US" dirty="0"/>
              <a:t> </a:t>
            </a:r>
            <a:r>
              <a:rPr lang="en-US" dirty="0" err="1"/>
              <a:t>depozitat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interesin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 err="1"/>
              <a:t>Mbikëqyrja</a:t>
            </a:r>
            <a:r>
              <a:rPr lang="en-US" b="1" dirty="0"/>
              <a:t> </a:t>
            </a:r>
            <a:r>
              <a:rPr lang="en-US" b="1" dirty="0" err="1"/>
              <a:t>Rregullatore</a:t>
            </a:r>
            <a:r>
              <a:rPr lang="en-US" b="1" dirty="0"/>
              <a:t>: </a:t>
            </a:r>
            <a:r>
              <a:rPr lang="en-US" dirty="0" err="1"/>
              <a:t>Financimi</a:t>
            </a:r>
            <a:r>
              <a:rPr lang="en-US" dirty="0"/>
              <a:t> me </a:t>
            </a:r>
            <a:r>
              <a:rPr lang="en-US" dirty="0" err="1"/>
              <a:t>depozita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shpesh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rregulluar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autoritetet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siguruar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bizneset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abuzojnë</a:t>
            </a:r>
            <a:r>
              <a:rPr lang="en-US" dirty="0"/>
              <a:t> me </a:t>
            </a:r>
            <a:r>
              <a:rPr lang="en-US" dirty="0" err="1"/>
              <a:t>fondet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pa </a:t>
            </a:r>
            <a:r>
              <a:rPr lang="en-US" dirty="0" err="1"/>
              <a:t>siguri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duhur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mbështetje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15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fletë</a:t>
            </a:r>
            <a:r>
              <a:rPr lang="en-US" dirty="0"/>
              <a:t> </a:t>
            </a:r>
            <a:r>
              <a:rPr lang="en-US" dirty="0" err="1"/>
              <a:t>obligacion</a:t>
            </a:r>
            <a:r>
              <a:rPr lang="en-US" dirty="0"/>
              <a:t> (Bond)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lloj</a:t>
            </a:r>
            <a:r>
              <a:rPr lang="en-US" dirty="0"/>
              <a:t> </a:t>
            </a:r>
            <a:r>
              <a:rPr lang="en-US" dirty="0" err="1"/>
              <a:t>sigurie</a:t>
            </a:r>
            <a:r>
              <a:rPr lang="en-US" dirty="0"/>
              <a:t> </a:t>
            </a:r>
            <a:r>
              <a:rPr lang="en-US" dirty="0" err="1"/>
              <a:t>borxhi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u </a:t>
            </a:r>
            <a:r>
              <a:rPr lang="en-US" dirty="0" err="1"/>
              <a:t>lejon</a:t>
            </a:r>
            <a:r>
              <a:rPr lang="en-US" dirty="0"/>
              <a:t> </a:t>
            </a:r>
            <a:r>
              <a:rPr lang="en-US" dirty="0" err="1"/>
              <a:t>investitorëve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huazojnë</a:t>
            </a:r>
            <a:r>
              <a:rPr lang="en-US" dirty="0"/>
              <a:t> para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kompanie</a:t>
            </a:r>
            <a:r>
              <a:rPr lang="en-US" dirty="0"/>
              <a:t>, </a:t>
            </a:r>
            <a:r>
              <a:rPr lang="en-US" dirty="0" err="1"/>
              <a:t>qeverie</a:t>
            </a:r>
            <a:r>
              <a:rPr lang="en-US" dirty="0"/>
              <a:t>,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</a:t>
            </a:r>
            <a:r>
              <a:rPr lang="en-US" dirty="0" err="1"/>
              <a:t>tjetër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periudhë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këmbim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pagesave</a:t>
            </a:r>
            <a:r>
              <a:rPr lang="en-US" dirty="0"/>
              <a:t> </a:t>
            </a:r>
            <a:r>
              <a:rPr lang="en-US" dirty="0" err="1"/>
              <a:t>periodike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interesit</a:t>
            </a:r>
            <a:r>
              <a:rPr lang="en-US" dirty="0"/>
              <a:t> (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quajtura</a:t>
            </a:r>
            <a:r>
              <a:rPr lang="en-US" dirty="0"/>
              <a:t> </a:t>
            </a:r>
            <a:r>
              <a:rPr lang="en-US" dirty="0" err="1"/>
              <a:t>pagesa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kuponit</a:t>
            </a:r>
            <a:r>
              <a:rPr lang="en-US" dirty="0"/>
              <a:t>)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kthimit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shumës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fund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afatit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quajtur</a:t>
            </a:r>
            <a:r>
              <a:rPr lang="en-US" dirty="0"/>
              <a:t> </a:t>
            </a:r>
            <a:r>
              <a:rPr lang="en-US" dirty="0" err="1"/>
              <a:t>maturim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thelb</a:t>
            </a:r>
            <a:r>
              <a:rPr lang="en-US" dirty="0"/>
              <a:t> </a:t>
            </a:r>
            <a:r>
              <a:rPr lang="en-US" dirty="0" err="1"/>
              <a:t>hua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investitorët</a:t>
            </a:r>
            <a:r>
              <a:rPr lang="en-US" dirty="0"/>
              <a:t> u </a:t>
            </a:r>
            <a:r>
              <a:rPr lang="en-US" dirty="0" err="1"/>
              <a:t>japin</a:t>
            </a:r>
            <a:r>
              <a:rPr lang="en-US" dirty="0"/>
              <a:t> </a:t>
            </a:r>
            <a:r>
              <a:rPr lang="en-US" dirty="0" err="1"/>
              <a:t>huamarrësve</a:t>
            </a:r>
            <a:r>
              <a:rPr lang="en-US" dirty="0"/>
              <a:t> (</a:t>
            </a:r>
            <a:r>
              <a:rPr lang="en-US" dirty="0" err="1"/>
              <a:t>emisorëve</a:t>
            </a:r>
            <a:r>
              <a:rPr lang="en-US" dirty="0"/>
              <a:t>)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këmbim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pagesave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rregullta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interesit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premtimit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shlyer</a:t>
            </a:r>
            <a:r>
              <a:rPr lang="en-US" dirty="0"/>
              <a:t> </a:t>
            </a:r>
            <a:r>
              <a:rPr lang="en-US" dirty="0" err="1"/>
              <a:t>shumën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maturim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përdoren</a:t>
            </a:r>
            <a:r>
              <a:rPr lang="en-US" dirty="0"/>
              <a:t> </a:t>
            </a:r>
            <a:r>
              <a:rPr lang="en-US" dirty="0" err="1"/>
              <a:t>shpesh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korporatat</a:t>
            </a:r>
            <a:r>
              <a:rPr lang="en-US" dirty="0"/>
              <a:t>, </a:t>
            </a:r>
            <a:r>
              <a:rPr lang="en-US" dirty="0" err="1"/>
              <a:t>komunat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qeveritë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mbledhur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qëllime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financimi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projekteve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reja</a:t>
            </a:r>
            <a:r>
              <a:rPr lang="en-US" dirty="0"/>
              <a:t>, </a:t>
            </a:r>
            <a:r>
              <a:rPr lang="en-US" dirty="0" err="1"/>
              <a:t>infrastrukturës</a:t>
            </a:r>
            <a:r>
              <a:rPr lang="en-US" dirty="0"/>
              <a:t>,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nevojave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tjera</a:t>
            </a:r>
            <a:r>
              <a:rPr lang="en-US" dirty="0"/>
              <a:t> </a:t>
            </a:r>
            <a:r>
              <a:rPr lang="en-US" dirty="0" err="1"/>
              <a:t>operacionale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dirty="0" err="1"/>
              <a:t>Karakteristikat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Bondëve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 err="1"/>
              <a:t>Emituesi</a:t>
            </a:r>
            <a:r>
              <a:rPr lang="en-US" b="1" dirty="0"/>
              <a:t>: </a:t>
            </a:r>
            <a:r>
              <a:rPr lang="en-US" dirty="0" err="1"/>
              <a:t>Entiteti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lëshon</a:t>
            </a:r>
            <a:r>
              <a:rPr lang="en-US" dirty="0"/>
              <a:t> </a:t>
            </a:r>
            <a:r>
              <a:rPr lang="en-US" dirty="0" err="1"/>
              <a:t>bondin</a:t>
            </a:r>
            <a:r>
              <a:rPr lang="en-US" dirty="0"/>
              <a:t> (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qeveri</a:t>
            </a:r>
            <a:r>
              <a:rPr lang="en-US" dirty="0"/>
              <a:t>, </a:t>
            </a:r>
            <a:r>
              <a:rPr lang="en-US" dirty="0" err="1"/>
              <a:t>korporatë</a:t>
            </a:r>
            <a:r>
              <a:rPr lang="en-US" dirty="0"/>
              <a:t>,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organizatë</a:t>
            </a:r>
            <a:r>
              <a:rPr lang="en-US" dirty="0"/>
              <a:t> </a:t>
            </a:r>
            <a:r>
              <a:rPr lang="en-US" dirty="0" err="1"/>
              <a:t>tjetër</a:t>
            </a:r>
            <a:r>
              <a:rPr lang="en-US" dirty="0"/>
              <a:t>).</a:t>
            </a:r>
          </a:p>
          <a:p>
            <a:r>
              <a:rPr lang="en-US" b="1" dirty="0"/>
              <a:t>Norma e </a:t>
            </a:r>
            <a:r>
              <a:rPr lang="en-US" b="1" dirty="0" err="1"/>
              <a:t>Kuponit</a:t>
            </a:r>
            <a:r>
              <a:rPr lang="en-US" b="1" dirty="0"/>
              <a:t>: </a:t>
            </a:r>
            <a:r>
              <a:rPr lang="en-US" dirty="0"/>
              <a:t>Norma e </a:t>
            </a:r>
            <a:r>
              <a:rPr lang="en-US" dirty="0" err="1"/>
              <a:t>interesit</a:t>
            </a:r>
            <a:r>
              <a:rPr lang="en-US" dirty="0"/>
              <a:t> e </a:t>
            </a:r>
            <a:r>
              <a:rPr lang="en-US" dirty="0" err="1"/>
              <a:t>paguar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mbajtësit</a:t>
            </a:r>
            <a:r>
              <a:rPr lang="en-US" dirty="0"/>
              <a:t> e </a:t>
            </a:r>
            <a:r>
              <a:rPr lang="en-US" dirty="0" err="1"/>
              <a:t>bondëve</a:t>
            </a:r>
            <a:r>
              <a:rPr lang="en-US" dirty="0"/>
              <a:t>, </a:t>
            </a:r>
            <a:r>
              <a:rPr lang="en-US" dirty="0" err="1"/>
              <a:t>zakonisht</a:t>
            </a:r>
            <a:r>
              <a:rPr lang="en-US" dirty="0"/>
              <a:t> e </a:t>
            </a:r>
            <a:r>
              <a:rPr lang="en-US" dirty="0" err="1"/>
              <a:t>shprehur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përqindje</a:t>
            </a:r>
            <a:r>
              <a:rPr lang="en-US" dirty="0"/>
              <a:t> e </a:t>
            </a:r>
            <a:r>
              <a:rPr lang="en-US" dirty="0" err="1"/>
              <a:t>vlerës</a:t>
            </a:r>
            <a:r>
              <a:rPr lang="en-US" dirty="0"/>
              <a:t> </a:t>
            </a:r>
            <a:r>
              <a:rPr lang="en-US" dirty="0" err="1"/>
              <a:t>nominale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.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pagesa</a:t>
            </a:r>
            <a:r>
              <a:rPr lang="en-US" dirty="0"/>
              <a:t> </a:t>
            </a:r>
            <a:r>
              <a:rPr lang="en-US" dirty="0" err="1"/>
              <a:t>bëhen</a:t>
            </a:r>
            <a:r>
              <a:rPr lang="en-US" dirty="0"/>
              <a:t>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çdo</a:t>
            </a:r>
            <a:r>
              <a:rPr lang="en-US" dirty="0"/>
              <a:t> vit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çdo</a:t>
            </a:r>
            <a:r>
              <a:rPr lang="en-US" dirty="0"/>
              <a:t> </a:t>
            </a:r>
            <a:r>
              <a:rPr lang="en-US" dirty="0" err="1"/>
              <a:t>gjashtë</a:t>
            </a:r>
            <a:r>
              <a:rPr lang="en-US" dirty="0"/>
              <a:t> </a:t>
            </a:r>
            <a:r>
              <a:rPr lang="en-US" dirty="0" err="1"/>
              <a:t>muaj</a:t>
            </a:r>
            <a:r>
              <a:rPr lang="en-US" dirty="0"/>
              <a:t>.</a:t>
            </a:r>
          </a:p>
          <a:p>
            <a:r>
              <a:rPr lang="en-US" b="1" dirty="0" err="1"/>
              <a:t>Vlera</a:t>
            </a:r>
            <a:r>
              <a:rPr lang="en-US" b="1" dirty="0"/>
              <a:t> </a:t>
            </a:r>
            <a:r>
              <a:rPr lang="en-US" b="1" dirty="0" err="1"/>
              <a:t>Nominale</a:t>
            </a:r>
            <a:r>
              <a:rPr lang="en-US" b="1" dirty="0"/>
              <a:t> (</a:t>
            </a:r>
            <a:r>
              <a:rPr lang="en-US" b="1" dirty="0" err="1"/>
              <a:t>Vlera</a:t>
            </a:r>
            <a:r>
              <a:rPr lang="en-US" b="1" dirty="0"/>
              <a:t> e </a:t>
            </a:r>
            <a:r>
              <a:rPr lang="en-US" b="1" dirty="0" err="1"/>
              <a:t>Parë</a:t>
            </a:r>
            <a:r>
              <a:rPr lang="en-US" b="1" dirty="0"/>
              <a:t>): </a:t>
            </a:r>
            <a:r>
              <a:rPr lang="en-US" dirty="0" err="1"/>
              <a:t>Shuma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mbajtësi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marrë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maturim</a:t>
            </a:r>
            <a:r>
              <a:rPr lang="en-US" dirty="0"/>
              <a:t>.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1,000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bond.</a:t>
            </a:r>
          </a:p>
          <a:p>
            <a:r>
              <a:rPr lang="en-US" b="1" dirty="0"/>
              <a:t>Data e </a:t>
            </a:r>
            <a:r>
              <a:rPr lang="en-US" b="1" dirty="0" err="1"/>
              <a:t>Maturimit</a:t>
            </a:r>
            <a:r>
              <a:rPr lang="en-US" b="1" dirty="0"/>
              <a:t>: </a:t>
            </a:r>
            <a:r>
              <a:rPr lang="en-US" dirty="0"/>
              <a:t>Data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cilën</a:t>
            </a:r>
            <a:r>
              <a:rPr lang="en-US" dirty="0"/>
              <a:t> </a:t>
            </a:r>
            <a:r>
              <a:rPr lang="en-US" dirty="0" err="1"/>
              <a:t>emituesi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 </a:t>
            </a:r>
            <a:r>
              <a:rPr lang="en-US" dirty="0" err="1"/>
              <a:t>duhet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shlyejë</a:t>
            </a:r>
            <a:r>
              <a:rPr lang="en-US" dirty="0"/>
              <a:t> </a:t>
            </a:r>
            <a:r>
              <a:rPr lang="en-US" dirty="0" err="1"/>
              <a:t>vlerën</a:t>
            </a:r>
            <a:r>
              <a:rPr lang="en-US" dirty="0"/>
              <a:t> </a:t>
            </a:r>
            <a:r>
              <a:rPr lang="en-US" dirty="0" err="1"/>
              <a:t>nominale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mbajtësit</a:t>
            </a:r>
            <a:r>
              <a:rPr lang="en-US" dirty="0"/>
              <a:t> e </a:t>
            </a:r>
            <a:r>
              <a:rPr lang="en-US" dirty="0" err="1"/>
              <a:t>bondëve</a:t>
            </a:r>
            <a:r>
              <a:rPr lang="en-US" dirty="0"/>
              <a:t>.</a:t>
            </a:r>
          </a:p>
          <a:p>
            <a:r>
              <a:rPr lang="en-US" b="1" dirty="0" err="1"/>
              <a:t>Vlerësimi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Kredibilitetit</a:t>
            </a:r>
            <a:r>
              <a:rPr lang="en-US" b="1" dirty="0"/>
              <a:t>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Emituesve</a:t>
            </a:r>
            <a:r>
              <a:rPr lang="en-US" b="1" dirty="0"/>
              <a:t>: </a:t>
            </a:r>
            <a:r>
              <a:rPr lang="en-US" dirty="0" err="1"/>
              <a:t>Tregon</a:t>
            </a:r>
            <a:r>
              <a:rPr lang="en-US" dirty="0"/>
              <a:t> </a:t>
            </a:r>
            <a:r>
              <a:rPr lang="en-US" dirty="0" err="1"/>
              <a:t>mundësinë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emituesi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mos</a:t>
            </a:r>
            <a:r>
              <a:rPr lang="en-US" dirty="0"/>
              <a:t> </a:t>
            </a:r>
            <a:r>
              <a:rPr lang="en-US" dirty="0" err="1"/>
              <a:t>paguajë</a:t>
            </a:r>
            <a:r>
              <a:rPr lang="en-US" dirty="0"/>
              <a:t>. </a:t>
            </a:r>
            <a:r>
              <a:rPr lang="en-US" dirty="0" err="1"/>
              <a:t>Bondet</a:t>
            </a:r>
            <a:r>
              <a:rPr lang="en-US" dirty="0"/>
              <a:t> me </a:t>
            </a:r>
            <a:r>
              <a:rPr lang="en-US" dirty="0" err="1"/>
              <a:t>vlerësim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</a:t>
            </a:r>
            <a:r>
              <a:rPr lang="en-US" dirty="0" err="1"/>
              <a:t>konsiderohen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sigurta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2483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dirty="0"/>
              <a:t>Si </a:t>
            </a:r>
            <a:r>
              <a:rPr lang="en-US" dirty="0" err="1"/>
              <a:t>Funksionojnë</a:t>
            </a:r>
            <a:r>
              <a:rPr lang="en-US" dirty="0"/>
              <a:t> </a:t>
            </a:r>
            <a:r>
              <a:rPr lang="en-US" dirty="0" err="1"/>
              <a:t>Bondet</a:t>
            </a:r>
            <a:r>
              <a:rPr lang="en-US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Lëshimi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Bondit</a:t>
            </a:r>
            <a:r>
              <a:rPr lang="en-US" b="1" dirty="0"/>
              <a:t>: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kompani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qeveri</a:t>
            </a:r>
            <a:r>
              <a:rPr lang="en-US" dirty="0"/>
              <a:t> </a:t>
            </a:r>
            <a:r>
              <a:rPr lang="en-US" dirty="0" err="1"/>
              <a:t>lëshon</a:t>
            </a:r>
            <a:r>
              <a:rPr lang="en-US" dirty="0"/>
              <a:t>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mbledhur</a:t>
            </a:r>
            <a:r>
              <a:rPr lang="en-US" dirty="0"/>
              <a:t> </a:t>
            </a:r>
            <a:r>
              <a:rPr lang="en-US" dirty="0" err="1"/>
              <a:t>kapital</a:t>
            </a:r>
            <a:r>
              <a:rPr lang="en-US" dirty="0"/>
              <a:t>. </a:t>
            </a:r>
            <a:r>
              <a:rPr lang="en-US" dirty="0" err="1"/>
              <a:t>Investitorët</a:t>
            </a:r>
            <a:r>
              <a:rPr lang="en-US" dirty="0"/>
              <a:t> </a:t>
            </a:r>
            <a:r>
              <a:rPr lang="en-US" dirty="0" err="1"/>
              <a:t>blejnë</a:t>
            </a:r>
            <a:r>
              <a:rPr lang="en-US" dirty="0"/>
              <a:t> </a:t>
            </a:r>
            <a:r>
              <a:rPr lang="en-US" dirty="0" err="1"/>
              <a:t>bondet</a:t>
            </a:r>
            <a:r>
              <a:rPr lang="en-US" dirty="0"/>
              <a:t>, duke </a:t>
            </a:r>
            <a:r>
              <a:rPr lang="en-US" dirty="0" err="1"/>
              <a:t>huazuar</a:t>
            </a:r>
            <a:r>
              <a:rPr lang="en-US" dirty="0"/>
              <a:t> para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emituesin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Pagesat</a:t>
            </a:r>
            <a:r>
              <a:rPr lang="en-US" b="1" dirty="0"/>
              <a:t> e </a:t>
            </a:r>
            <a:r>
              <a:rPr lang="en-US" b="1" dirty="0" err="1"/>
              <a:t>Kuponit</a:t>
            </a:r>
            <a:r>
              <a:rPr lang="en-US" b="1" dirty="0"/>
              <a:t>: </a:t>
            </a:r>
            <a:r>
              <a:rPr lang="en-US" dirty="0" err="1"/>
              <a:t>Emituesi</a:t>
            </a:r>
            <a:r>
              <a:rPr lang="en-US" dirty="0"/>
              <a:t> </a:t>
            </a:r>
            <a:r>
              <a:rPr lang="en-US" dirty="0" err="1"/>
              <a:t>pranon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paguajë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normë</a:t>
            </a:r>
            <a:r>
              <a:rPr lang="en-US" dirty="0"/>
              <a:t> </a:t>
            </a:r>
            <a:r>
              <a:rPr lang="en-US" dirty="0" err="1"/>
              <a:t>fikse</a:t>
            </a:r>
            <a:r>
              <a:rPr lang="en-US" dirty="0"/>
              <a:t> </a:t>
            </a:r>
            <a:r>
              <a:rPr lang="en-US" dirty="0" err="1"/>
              <a:t>interesi</a:t>
            </a:r>
            <a:r>
              <a:rPr lang="en-US" dirty="0"/>
              <a:t> (</a:t>
            </a:r>
            <a:r>
              <a:rPr lang="en-US" dirty="0" err="1"/>
              <a:t>kupon</a:t>
            </a:r>
            <a:r>
              <a:rPr lang="en-US" dirty="0"/>
              <a:t>)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mbajtësin</a:t>
            </a:r>
            <a:r>
              <a:rPr lang="en-US" dirty="0"/>
              <a:t> e </a:t>
            </a:r>
            <a:r>
              <a:rPr lang="en-US" dirty="0" err="1"/>
              <a:t>bondit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intervale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rregullta</a:t>
            </a:r>
            <a:r>
              <a:rPr lang="en-US" dirty="0"/>
              <a:t> </a:t>
            </a:r>
            <a:r>
              <a:rPr lang="en-US" dirty="0" err="1"/>
              <a:t>deri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datën</a:t>
            </a:r>
            <a:r>
              <a:rPr lang="en-US" dirty="0"/>
              <a:t> e </a:t>
            </a:r>
            <a:r>
              <a:rPr lang="en-US" dirty="0" err="1"/>
              <a:t>maturimit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Maturimi</a:t>
            </a:r>
            <a:r>
              <a:rPr lang="en-US" b="1" dirty="0"/>
              <a:t> </a:t>
            </a:r>
            <a:r>
              <a:rPr lang="en-US" b="1" dirty="0" err="1"/>
              <a:t>dhe</a:t>
            </a:r>
            <a:r>
              <a:rPr lang="en-US" b="1" dirty="0"/>
              <a:t> </a:t>
            </a:r>
            <a:r>
              <a:rPr lang="en-US" b="1" dirty="0" err="1"/>
              <a:t>Shlyerja</a:t>
            </a:r>
            <a:r>
              <a:rPr lang="en-US" b="1" dirty="0"/>
              <a:t>: </a:t>
            </a:r>
            <a:r>
              <a:rPr lang="en-US" dirty="0"/>
              <a:t>Kur </a:t>
            </a:r>
            <a:r>
              <a:rPr lang="en-US" dirty="0" err="1"/>
              <a:t>bondi</a:t>
            </a:r>
            <a:r>
              <a:rPr lang="en-US" dirty="0"/>
              <a:t> </a:t>
            </a:r>
            <a:r>
              <a:rPr lang="en-US" dirty="0" err="1"/>
              <a:t>arrin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datën</a:t>
            </a:r>
            <a:r>
              <a:rPr lang="en-US" dirty="0"/>
              <a:t> e </a:t>
            </a:r>
            <a:r>
              <a:rPr lang="en-US" dirty="0" err="1"/>
              <a:t>maturimit</a:t>
            </a:r>
            <a:r>
              <a:rPr lang="en-US" dirty="0"/>
              <a:t>, </a:t>
            </a:r>
            <a:r>
              <a:rPr lang="en-US" dirty="0" err="1"/>
              <a:t>emituesi</a:t>
            </a:r>
            <a:r>
              <a:rPr lang="en-US" dirty="0"/>
              <a:t> </a:t>
            </a:r>
            <a:r>
              <a:rPr lang="en-US" dirty="0" err="1"/>
              <a:t>shlyen</a:t>
            </a:r>
            <a:r>
              <a:rPr lang="en-US" dirty="0"/>
              <a:t> </a:t>
            </a:r>
            <a:r>
              <a:rPr lang="en-US" dirty="0" err="1"/>
              <a:t>vlerën</a:t>
            </a:r>
            <a:r>
              <a:rPr lang="en-US" dirty="0"/>
              <a:t> </a:t>
            </a:r>
            <a:r>
              <a:rPr lang="en-US" dirty="0" err="1"/>
              <a:t>nominale</a:t>
            </a:r>
            <a:r>
              <a:rPr lang="en-US" dirty="0"/>
              <a:t> (</a:t>
            </a:r>
            <a:r>
              <a:rPr lang="en-US" dirty="0" err="1"/>
              <a:t>shumën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)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mbajtësin</a:t>
            </a:r>
            <a:r>
              <a:rPr lang="en-US" dirty="0"/>
              <a:t> e </a:t>
            </a:r>
            <a:r>
              <a:rPr lang="en-US" dirty="0" err="1"/>
              <a:t>bondit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0150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 err="1"/>
              <a:t>Shembull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një</a:t>
            </a:r>
            <a:r>
              <a:rPr lang="en-US" b="1" dirty="0"/>
              <a:t> Bondi: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korporatë</a:t>
            </a:r>
            <a:r>
              <a:rPr lang="en-US" dirty="0"/>
              <a:t> e </a:t>
            </a:r>
            <a:r>
              <a:rPr lang="en-US" dirty="0" err="1"/>
              <a:t>quajtur</a:t>
            </a:r>
            <a:r>
              <a:rPr lang="en-US" dirty="0"/>
              <a:t> ABC Corp </a:t>
            </a:r>
            <a:r>
              <a:rPr lang="en-US" dirty="0" err="1"/>
              <a:t>dëshiron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mbledhë</a:t>
            </a:r>
            <a:r>
              <a:rPr lang="en-US" dirty="0"/>
              <a:t> 10 </a:t>
            </a:r>
            <a:r>
              <a:rPr lang="en-US" dirty="0" err="1"/>
              <a:t>milionë</a:t>
            </a:r>
            <a:r>
              <a:rPr lang="en-US" dirty="0"/>
              <a:t>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financuar</a:t>
            </a:r>
            <a:r>
              <a:rPr lang="en-US" dirty="0"/>
              <a:t> </a:t>
            </a:r>
            <a:r>
              <a:rPr lang="en-US" dirty="0" err="1"/>
              <a:t>zhvillimin</a:t>
            </a:r>
            <a:r>
              <a:rPr lang="en-US" dirty="0"/>
              <a:t> 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fabrike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re. </a:t>
            </a:r>
            <a:r>
              <a:rPr lang="en-US" dirty="0" err="1"/>
              <a:t>Në</a:t>
            </a:r>
            <a:r>
              <a:rPr lang="en-US" dirty="0"/>
              <a:t> vend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kërkojë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hua</a:t>
            </a:r>
            <a:r>
              <a:rPr lang="en-US" dirty="0"/>
              <a:t> </a:t>
            </a:r>
            <a:r>
              <a:rPr lang="en-US" dirty="0" err="1"/>
              <a:t>bankare</a:t>
            </a:r>
            <a:r>
              <a:rPr lang="en-US" dirty="0"/>
              <a:t>, ABC Corp </a:t>
            </a:r>
            <a:r>
              <a:rPr lang="en-US" dirty="0" err="1"/>
              <a:t>vendos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lëshojë</a:t>
            </a:r>
            <a:r>
              <a:rPr lang="en-US" dirty="0"/>
              <a:t> </a:t>
            </a:r>
            <a:r>
              <a:rPr lang="en-US" dirty="0" err="1"/>
              <a:t>bondë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Lëshimi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Bondit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r>
              <a:rPr lang="en-US" dirty="0"/>
              <a:t>ABC Corp </a:t>
            </a:r>
            <a:r>
              <a:rPr lang="en-US" dirty="0" err="1"/>
              <a:t>lëshon</a:t>
            </a:r>
            <a:r>
              <a:rPr lang="en-US" dirty="0"/>
              <a:t> </a:t>
            </a:r>
            <a:r>
              <a:rPr lang="en-US" dirty="0" err="1"/>
              <a:t>bondë</a:t>
            </a:r>
            <a:r>
              <a:rPr lang="en-US" dirty="0"/>
              <a:t> me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kushte</a:t>
            </a:r>
            <a:r>
              <a:rPr lang="en-US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Vlera</a:t>
            </a:r>
            <a:r>
              <a:rPr lang="en-US" b="1" dirty="0"/>
              <a:t> </a:t>
            </a:r>
            <a:r>
              <a:rPr lang="en-US" b="1" dirty="0" err="1"/>
              <a:t>Nominale</a:t>
            </a:r>
            <a:r>
              <a:rPr lang="en-US" b="1" dirty="0"/>
              <a:t>: </a:t>
            </a:r>
            <a:r>
              <a:rPr lang="en-US" dirty="0"/>
              <a:t>1,000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bond</a:t>
            </a:r>
          </a:p>
          <a:p>
            <a:pPr marL="114300" indent="0">
              <a:buNone/>
            </a:pPr>
            <a:r>
              <a:rPr lang="en-US" b="1" dirty="0"/>
              <a:t>Norma e </a:t>
            </a:r>
            <a:r>
              <a:rPr lang="en-US" b="1" dirty="0" err="1"/>
              <a:t>Kuponit</a:t>
            </a:r>
            <a:r>
              <a:rPr lang="en-US" b="1" dirty="0"/>
              <a:t>: </a:t>
            </a:r>
            <a:r>
              <a:rPr lang="en-US" dirty="0"/>
              <a:t>5% </a:t>
            </a:r>
            <a:r>
              <a:rPr lang="en-US" dirty="0" err="1"/>
              <a:t>në</a:t>
            </a:r>
            <a:r>
              <a:rPr lang="en-US" dirty="0"/>
              <a:t> vit</a:t>
            </a:r>
          </a:p>
          <a:p>
            <a:pPr marL="114300" indent="0">
              <a:buNone/>
            </a:pPr>
            <a:r>
              <a:rPr lang="en-US" b="1" dirty="0"/>
              <a:t>Data e </a:t>
            </a:r>
            <a:r>
              <a:rPr lang="en-US" b="1" dirty="0" err="1"/>
              <a:t>Maturimit</a:t>
            </a:r>
            <a:r>
              <a:rPr lang="en-US" b="1" dirty="0"/>
              <a:t>: </a:t>
            </a:r>
            <a:r>
              <a:rPr lang="en-US" dirty="0"/>
              <a:t>10 </a:t>
            </a:r>
            <a:r>
              <a:rPr lang="en-US" dirty="0" err="1"/>
              <a:t>vjet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data e </a:t>
            </a:r>
            <a:r>
              <a:rPr lang="en-US" dirty="0" err="1"/>
              <a:t>lëshimit</a:t>
            </a:r>
            <a:endParaRPr lang="en-US" dirty="0"/>
          </a:p>
          <a:p>
            <a:pPr marL="114300" indent="0">
              <a:buNone/>
            </a:pPr>
            <a:r>
              <a:rPr lang="en-US" b="1" dirty="0" err="1"/>
              <a:t>Shuma</a:t>
            </a:r>
            <a:r>
              <a:rPr lang="en-US" b="1" dirty="0"/>
              <a:t> </a:t>
            </a:r>
            <a:r>
              <a:rPr lang="en-US" b="1" dirty="0" err="1"/>
              <a:t>Totale</a:t>
            </a:r>
            <a:r>
              <a:rPr lang="en-US" b="1" dirty="0"/>
              <a:t> e </a:t>
            </a:r>
            <a:r>
              <a:rPr lang="en-US" b="1" dirty="0" err="1"/>
              <a:t>Lëshimit</a:t>
            </a:r>
            <a:r>
              <a:rPr lang="en-US" b="1" dirty="0"/>
              <a:t>: </a:t>
            </a:r>
            <a:r>
              <a:rPr lang="en-US" dirty="0"/>
              <a:t>10,000 </a:t>
            </a:r>
            <a:r>
              <a:rPr lang="en-US" dirty="0" err="1"/>
              <a:t>bondë</a:t>
            </a:r>
            <a:r>
              <a:rPr lang="en-US" dirty="0"/>
              <a:t> (10,000 </a:t>
            </a:r>
            <a:r>
              <a:rPr lang="en-US" dirty="0" err="1"/>
              <a:t>bondë</a:t>
            </a:r>
            <a:r>
              <a:rPr lang="en-US" dirty="0"/>
              <a:t> * 1,000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bond = 10 </a:t>
            </a:r>
            <a:r>
              <a:rPr lang="en-US" dirty="0" err="1"/>
              <a:t>milionë</a:t>
            </a:r>
            <a:r>
              <a:rPr lang="en-US" dirty="0"/>
              <a:t> </a:t>
            </a:r>
            <a:r>
              <a:rPr lang="en-US" dirty="0" err="1"/>
              <a:t>dollarë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2067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07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620098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Si </a:t>
            </a:r>
            <a:r>
              <a:rPr lang="en-US" b="1" dirty="0" err="1"/>
              <a:t>Funksionon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err="1"/>
              <a:t>Investitorët</a:t>
            </a:r>
            <a:r>
              <a:rPr lang="en-US" dirty="0"/>
              <a:t> </a:t>
            </a:r>
            <a:r>
              <a:rPr lang="en-US" dirty="0" err="1"/>
              <a:t>blejnë</a:t>
            </a:r>
            <a:r>
              <a:rPr lang="en-US" dirty="0"/>
              <a:t>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1,000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secili</a:t>
            </a:r>
            <a:r>
              <a:rPr lang="en-US" dirty="0"/>
              <a:t>, duke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dhënë</a:t>
            </a:r>
            <a:r>
              <a:rPr lang="en-US" dirty="0"/>
              <a:t> ABC Corp </a:t>
            </a:r>
            <a:r>
              <a:rPr lang="en-US" dirty="0" err="1"/>
              <a:t>një</a:t>
            </a:r>
            <a:r>
              <a:rPr lang="en-US" dirty="0"/>
              <a:t> total </a:t>
            </a:r>
            <a:r>
              <a:rPr lang="en-US" dirty="0" err="1"/>
              <a:t>prej</a:t>
            </a:r>
            <a:r>
              <a:rPr lang="en-US" dirty="0"/>
              <a:t> 10 </a:t>
            </a:r>
            <a:r>
              <a:rPr lang="en-US" dirty="0" err="1"/>
              <a:t>milionë</a:t>
            </a:r>
            <a:r>
              <a:rPr lang="en-US" dirty="0"/>
              <a:t> </a:t>
            </a:r>
            <a:r>
              <a:rPr lang="en-US" dirty="0" err="1"/>
              <a:t>dollarësh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Pagesat</a:t>
            </a:r>
            <a:r>
              <a:rPr lang="en-US" b="1" dirty="0"/>
              <a:t> e </a:t>
            </a:r>
            <a:r>
              <a:rPr lang="en-US" b="1" dirty="0" err="1"/>
              <a:t>Kuponit</a:t>
            </a:r>
            <a:r>
              <a:rPr lang="en-US" b="1" dirty="0"/>
              <a:t>: </a:t>
            </a:r>
            <a:r>
              <a:rPr lang="en-US" dirty="0" err="1"/>
              <a:t>Çdo</a:t>
            </a:r>
            <a:r>
              <a:rPr lang="en-US" dirty="0"/>
              <a:t> vit, ABC Corp </a:t>
            </a:r>
            <a:r>
              <a:rPr lang="en-US" dirty="0" err="1"/>
              <a:t>paguan</a:t>
            </a:r>
            <a:r>
              <a:rPr lang="en-US" dirty="0"/>
              <a:t> 5%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vlerën</a:t>
            </a:r>
            <a:r>
              <a:rPr lang="en-US" dirty="0"/>
              <a:t> </a:t>
            </a:r>
            <a:r>
              <a:rPr lang="en-US" dirty="0" err="1"/>
              <a:t>nominale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secilit</a:t>
            </a:r>
            <a:r>
              <a:rPr lang="en-US" dirty="0"/>
              <a:t> bond.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secilin</a:t>
            </a:r>
            <a:r>
              <a:rPr lang="en-US" dirty="0"/>
              <a:t> bond, </a:t>
            </a:r>
            <a:r>
              <a:rPr lang="en-US" dirty="0" err="1"/>
              <a:t>pagesa</a:t>
            </a:r>
            <a:r>
              <a:rPr lang="en-US" dirty="0"/>
              <a:t> e </a:t>
            </a:r>
            <a:r>
              <a:rPr lang="en-US" dirty="0" err="1"/>
              <a:t>interesit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:</a:t>
            </a:r>
          </a:p>
          <a:p>
            <a:pPr marL="114300" indent="0">
              <a:buNone/>
            </a:pPr>
            <a:r>
              <a:rPr lang="en-US" dirty="0"/>
              <a:t>5% e 1,000 </a:t>
            </a:r>
            <a:r>
              <a:rPr lang="en-US" dirty="0" err="1"/>
              <a:t>dollarëve</a:t>
            </a:r>
            <a:r>
              <a:rPr lang="en-US" dirty="0"/>
              <a:t> = 50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vit.</a:t>
            </a:r>
          </a:p>
          <a:p>
            <a:pPr marL="114300" indent="0">
              <a:buNone/>
            </a:pP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mbani</a:t>
            </a:r>
            <a:r>
              <a:rPr lang="en-US" dirty="0"/>
              <a:t> 1 bond,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merrni</a:t>
            </a:r>
            <a:r>
              <a:rPr lang="en-US" dirty="0"/>
              <a:t> 50 </a:t>
            </a:r>
            <a:r>
              <a:rPr lang="en-US" dirty="0" err="1"/>
              <a:t>dollarë</a:t>
            </a:r>
            <a:r>
              <a:rPr lang="en-US" dirty="0"/>
              <a:t>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çdo</a:t>
            </a:r>
            <a:r>
              <a:rPr lang="en-US" dirty="0"/>
              <a:t> vit </a:t>
            </a:r>
            <a:r>
              <a:rPr lang="en-US" dirty="0" err="1"/>
              <a:t>për</a:t>
            </a:r>
            <a:r>
              <a:rPr lang="en-US" dirty="0"/>
              <a:t> 10 </a:t>
            </a:r>
            <a:r>
              <a:rPr lang="en-US" dirty="0" err="1"/>
              <a:t>vjet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Në</a:t>
            </a:r>
            <a:r>
              <a:rPr lang="en-US" b="1" dirty="0"/>
              <a:t> </a:t>
            </a:r>
            <a:r>
              <a:rPr lang="en-US" b="1" dirty="0" err="1"/>
              <a:t>Maturim</a:t>
            </a:r>
            <a:r>
              <a:rPr lang="en-US" b="1" dirty="0"/>
              <a:t>: </a:t>
            </a:r>
            <a:r>
              <a:rPr lang="en-US" dirty="0"/>
              <a:t>Pas 10 </a:t>
            </a:r>
            <a:r>
              <a:rPr lang="en-US" dirty="0" err="1"/>
              <a:t>vjetësh</a:t>
            </a:r>
            <a:r>
              <a:rPr lang="en-US" dirty="0"/>
              <a:t>, ABC Corp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shlyejë</a:t>
            </a:r>
            <a:r>
              <a:rPr lang="en-US" dirty="0"/>
              <a:t> 1,000 </a:t>
            </a:r>
            <a:r>
              <a:rPr lang="en-US" dirty="0" err="1"/>
              <a:t>dollarët</a:t>
            </a:r>
            <a:r>
              <a:rPr lang="en-US" dirty="0"/>
              <a:t> </a:t>
            </a:r>
            <a:r>
              <a:rPr lang="en-US" dirty="0" err="1"/>
              <a:t>origjinalë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vlerës</a:t>
            </a:r>
            <a:r>
              <a:rPr lang="en-US" dirty="0"/>
              <a:t> </a:t>
            </a:r>
            <a:r>
              <a:rPr lang="en-US" dirty="0" err="1"/>
              <a:t>nominale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çdo</a:t>
            </a:r>
            <a:r>
              <a:rPr lang="en-US" dirty="0"/>
              <a:t> </a:t>
            </a:r>
            <a:r>
              <a:rPr lang="en-US" dirty="0" err="1"/>
              <a:t>mbajtës</a:t>
            </a:r>
            <a:r>
              <a:rPr lang="en-US" dirty="0"/>
              <a:t> </a:t>
            </a:r>
            <a:r>
              <a:rPr lang="en-US" dirty="0" err="1"/>
              <a:t>bondi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Përfitimet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r>
              <a:rPr lang="en-US" b="1" dirty="0" err="1"/>
              <a:t>Për</a:t>
            </a:r>
            <a:r>
              <a:rPr lang="en-US" b="1" dirty="0"/>
              <a:t> ABC Corp (</a:t>
            </a:r>
            <a:r>
              <a:rPr lang="en-US" b="1" dirty="0" err="1"/>
              <a:t>Emisori</a:t>
            </a:r>
            <a:r>
              <a:rPr lang="en-US" b="1" dirty="0"/>
              <a:t>): </a:t>
            </a:r>
            <a:r>
              <a:rPr lang="en-US" dirty="0"/>
              <a:t>ABC Corp </a:t>
            </a:r>
            <a:r>
              <a:rPr lang="en-US" dirty="0" err="1"/>
              <a:t>merr</a:t>
            </a:r>
            <a:r>
              <a:rPr lang="en-US" dirty="0"/>
              <a:t> </a:t>
            </a:r>
            <a:r>
              <a:rPr lang="en-US" dirty="0" err="1"/>
              <a:t>fondet</a:t>
            </a:r>
            <a:r>
              <a:rPr lang="en-US" dirty="0"/>
              <a:t> e </a:t>
            </a:r>
            <a:r>
              <a:rPr lang="en-US" dirty="0" err="1"/>
              <a:t>nevojshme</a:t>
            </a:r>
            <a:r>
              <a:rPr lang="en-US" dirty="0"/>
              <a:t> </a:t>
            </a:r>
            <a:r>
              <a:rPr lang="en-US" dirty="0" err="1"/>
              <a:t>paraprakisht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projektin</a:t>
            </a:r>
            <a:r>
              <a:rPr lang="en-US" dirty="0"/>
              <a:t> e </a:t>
            </a:r>
            <a:r>
              <a:rPr lang="en-US" dirty="0" err="1"/>
              <a:t>fabrikës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obligimi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paguar</a:t>
            </a:r>
            <a:r>
              <a:rPr lang="en-US" dirty="0"/>
              <a:t> </a:t>
            </a:r>
            <a:r>
              <a:rPr lang="en-US" dirty="0" err="1"/>
              <a:t>interesin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fiksur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periudhën</a:t>
            </a:r>
            <a:r>
              <a:rPr lang="en-US" dirty="0"/>
              <a:t> e </a:t>
            </a:r>
            <a:r>
              <a:rPr lang="en-US" dirty="0" err="1"/>
              <a:t>bondit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b="1" dirty="0" err="1"/>
              <a:t>Për</a:t>
            </a:r>
            <a:r>
              <a:rPr lang="en-US" b="1" dirty="0"/>
              <a:t> </a:t>
            </a:r>
            <a:r>
              <a:rPr lang="en-US" b="1" dirty="0" err="1"/>
              <a:t>Investitorët</a:t>
            </a:r>
            <a:r>
              <a:rPr lang="en-US" b="1" dirty="0"/>
              <a:t> (</a:t>
            </a:r>
            <a:r>
              <a:rPr lang="en-US" b="1" dirty="0" err="1"/>
              <a:t>Mbajtësit</a:t>
            </a:r>
            <a:r>
              <a:rPr lang="en-US" b="1" dirty="0"/>
              <a:t> e </a:t>
            </a:r>
            <a:r>
              <a:rPr lang="en-US" b="1" dirty="0" err="1"/>
              <a:t>Bondëve</a:t>
            </a:r>
            <a:r>
              <a:rPr lang="en-US" b="1" dirty="0"/>
              <a:t>): </a:t>
            </a:r>
            <a:r>
              <a:rPr lang="en-US" dirty="0" err="1"/>
              <a:t>Investitorët</a:t>
            </a:r>
            <a:r>
              <a:rPr lang="en-US" dirty="0"/>
              <a:t> </a:t>
            </a:r>
            <a:r>
              <a:rPr lang="en-US" dirty="0" err="1"/>
              <a:t>fitojnë</a:t>
            </a:r>
            <a:r>
              <a:rPr lang="en-US" dirty="0"/>
              <a:t>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investimin</a:t>
            </a:r>
            <a:r>
              <a:rPr lang="en-US" dirty="0"/>
              <a:t> e </a:t>
            </a:r>
            <a:r>
              <a:rPr lang="en-US" dirty="0" err="1"/>
              <a:t>tyre</a:t>
            </a:r>
            <a:r>
              <a:rPr lang="en-US" dirty="0"/>
              <a:t> </a:t>
            </a:r>
            <a:r>
              <a:rPr lang="en-US" dirty="0" err="1"/>
              <a:t>gjatë</a:t>
            </a:r>
            <a:r>
              <a:rPr lang="en-US" dirty="0"/>
              <a:t> </a:t>
            </a:r>
            <a:r>
              <a:rPr lang="en-US" dirty="0" err="1"/>
              <a:t>gjithë</a:t>
            </a:r>
            <a:r>
              <a:rPr lang="en-US" dirty="0"/>
              <a:t> </a:t>
            </a:r>
            <a:r>
              <a:rPr lang="en-US" dirty="0" err="1"/>
              <a:t>jetës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marrin</a:t>
            </a:r>
            <a:r>
              <a:rPr lang="en-US" dirty="0"/>
              <a:t> </a:t>
            </a:r>
            <a:r>
              <a:rPr lang="en-US" dirty="0" err="1"/>
              <a:t>investimin</a:t>
            </a:r>
            <a:r>
              <a:rPr lang="en-US" dirty="0"/>
              <a:t> e </a:t>
            </a:r>
            <a:r>
              <a:rPr lang="en-US" dirty="0" err="1"/>
              <a:t>tyre</a:t>
            </a:r>
            <a:r>
              <a:rPr lang="en-US" dirty="0"/>
              <a:t> </a:t>
            </a:r>
            <a:r>
              <a:rPr lang="en-US" dirty="0" err="1"/>
              <a:t>fillestar</a:t>
            </a:r>
            <a:r>
              <a:rPr lang="en-US" dirty="0"/>
              <a:t> pas 10 </a:t>
            </a:r>
            <a:r>
              <a:rPr lang="en-US" dirty="0" err="1"/>
              <a:t>vjetësh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0084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07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620098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 err="1"/>
              <a:t>Llojet</a:t>
            </a:r>
            <a:r>
              <a:rPr lang="en-US" b="1" dirty="0"/>
              <a:t> e </a:t>
            </a:r>
            <a:r>
              <a:rPr lang="en-US" b="1" dirty="0" err="1"/>
              <a:t>Bondëve</a:t>
            </a:r>
            <a:r>
              <a:rPr lang="en-US" b="1" dirty="0"/>
              <a:t>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Bondet</a:t>
            </a:r>
            <a:r>
              <a:rPr lang="en-US" b="1" dirty="0"/>
              <a:t> </a:t>
            </a:r>
            <a:r>
              <a:rPr lang="en-US" b="1" dirty="0" err="1"/>
              <a:t>Qeveritare</a:t>
            </a:r>
            <a:r>
              <a:rPr lang="en-US" b="1" dirty="0"/>
              <a:t>: </a:t>
            </a:r>
            <a:r>
              <a:rPr lang="en-US" dirty="0" err="1"/>
              <a:t>Lëshohen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qeveritë</a:t>
            </a:r>
            <a:r>
              <a:rPr lang="en-US" dirty="0"/>
              <a:t> </a:t>
            </a:r>
            <a:r>
              <a:rPr lang="en-US" dirty="0" err="1"/>
              <a:t>kombëtare</a:t>
            </a:r>
            <a:r>
              <a:rPr lang="en-US" dirty="0"/>
              <a:t> (p.sh., </a:t>
            </a:r>
            <a:r>
              <a:rPr lang="en-US" dirty="0" err="1"/>
              <a:t>Bondet</a:t>
            </a:r>
            <a:r>
              <a:rPr lang="en-US" dirty="0"/>
              <a:t> e </a:t>
            </a:r>
            <a:r>
              <a:rPr lang="en-US" dirty="0" err="1"/>
              <a:t>Thesarit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SHBA)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konsiderohen</a:t>
            </a:r>
            <a:r>
              <a:rPr lang="en-US" dirty="0"/>
              <a:t> me </a:t>
            </a:r>
            <a:r>
              <a:rPr lang="en-US" dirty="0" err="1"/>
              <a:t>rrezik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ulët</a:t>
            </a:r>
            <a:r>
              <a:rPr lang="en-US" dirty="0"/>
              <a:t>, </a:t>
            </a:r>
            <a:r>
              <a:rPr lang="en-US" dirty="0" err="1"/>
              <a:t>pasi</a:t>
            </a:r>
            <a:r>
              <a:rPr lang="en-US" dirty="0"/>
              <a:t> </a:t>
            </a:r>
            <a:r>
              <a:rPr lang="en-US" dirty="0" err="1"/>
              <a:t>mbështeten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krediti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qeverisë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Bondet</a:t>
            </a:r>
            <a:r>
              <a:rPr lang="en-US" b="1" dirty="0"/>
              <a:t> </a:t>
            </a:r>
            <a:r>
              <a:rPr lang="en-US" b="1" dirty="0" err="1"/>
              <a:t>Korporate</a:t>
            </a:r>
            <a:r>
              <a:rPr lang="en-US" b="1" dirty="0"/>
              <a:t>: </a:t>
            </a:r>
            <a:r>
              <a:rPr lang="en-US" dirty="0" err="1"/>
              <a:t>Lëshohen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kompanitë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mbledhur</a:t>
            </a:r>
            <a:r>
              <a:rPr lang="en-US" dirty="0"/>
              <a:t> </a:t>
            </a:r>
            <a:r>
              <a:rPr lang="en-US" dirty="0" err="1"/>
              <a:t>kapital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rreziku</a:t>
            </a:r>
            <a:r>
              <a:rPr lang="en-US" dirty="0"/>
              <a:t> </a:t>
            </a:r>
            <a:r>
              <a:rPr lang="en-US" dirty="0" err="1"/>
              <a:t>varet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besueshmëria</a:t>
            </a:r>
            <a:r>
              <a:rPr lang="en-US" dirty="0"/>
              <a:t> </a:t>
            </a:r>
            <a:r>
              <a:rPr lang="en-US" dirty="0" err="1"/>
              <a:t>kreditore</a:t>
            </a:r>
            <a:r>
              <a:rPr lang="en-US" dirty="0"/>
              <a:t> e </a:t>
            </a:r>
            <a:r>
              <a:rPr lang="en-US" dirty="0" err="1"/>
              <a:t>kompanisë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Bondet</a:t>
            </a:r>
            <a:r>
              <a:rPr lang="en-US" b="1" dirty="0"/>
              <a:t> </a:t>
            </a:r>
            <a:r>
              <a:rPr lang="en-US" b="1" dirty="0" err="1"/>
              <a:t>Komunale</a:t>
            </a:r>
            <a:r>
              <a:rPr lang="en-US" b="1" dirty="0"/>
              <a:t>: </a:t>
            </a:r>
            <a:r>
              <a:rPr lang="en-US" dirty="0" err="1"/>
              <a:t>Lëshohen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qeveritë</a:t>
            </a:r>
            <a:r>
              <a:rPr lang="en-US" dirty="0"/>
              <a:t> </a:t>
            </a:r>
            <a:r>
              <a:rPr lang="en-US" dirty="0" err="1"/>
              <a:t>lokale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komunat</a:t>
            </a:r>
            <a:r>
              <a:rPr lang="en-US" dirty="0"/>
              <a:t>,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përdoren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projekte</a:t>
            </a:r>
            <a:r>
              <a:rPr lang="en-US" dirty="0"/>
              <a:t> </a:t>
            </a:r>
            <a:r>
              <a:rPr lang="en-US" dirty="0" err="1"/>
              <a:t>publike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shkolla</a:t>
            </a:r>
            <a:r>
              <a:rPr lang="en-US" dirty="0"/>
              <a:t>, autostrada,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spitale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/>
              <a:t>Bondet</a:t>
            </a:r>
            <a:r>
              <a:rPr lang="en-US" b="1" dirty="0"/>
              <a:t> e </a:t>
            </a:r>
            <a:r>
              <a:rPr lang="en-US" b="1" dirty="0" err="1"/>
              <a:t>Konvertueshme</a:t>
            </a:r>
            <a:r>
              <a:rPr lang="en-US" b="1" dirty="0"/>
              <a:t>: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konvertohen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numër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caktuar</a:t>
            </a:r>
            <a:r>
              <a:rPr lang="en-US" dirty="0"/>
              <a:t> </a:t>
            </a:r>
            <a:r>
              <a:rPr lang="en-US" dirty="0" err="1"/>
              <a:t>aksionesh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kompanisë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dëshirës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mbajtësit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bondit</a:t>
            </a:r>
            <a:r>
              <a:rPr lang="en-US" dirty="0"/>
              <a:t>, duke </a:t>
            </a:r>
            <a:r>
              <a:rPr lang="en-US" dirty="0" err="1"/>
              <a:t>ofruar</a:t>
            </a:r>
            <a:r>
              <a:rPr lang="en-US" dirty="0"/>
              <a:t> </a:t>
            </a:r>
            <a:r>
              <a:rPr lang="en-US" dirty="0" err="1"/>
              <a:t>mundësi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rritje</a:t>
            </a:r>
            <a:r>
              <a:rPr lang="en-US" dirty="0"/>
              <a:t> </a:t>
            </a:r>
            <a:r>
              <a:rPr lang="en-US" dirty="0" err="1"/>
              <a:t>kapitali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60301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707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OBLIGACIONET (</a:t>
            </a:r>
            <a:r>
              <a:rPr lang="en-US" b="1" dirty="0" err="1">
                <a:solidFill>
                  <a:srgbClr val="C00000"/>
                </a:solidFill>
              </a:rPr>
              <a:t>Bondet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620098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Përfitimet</a:t>
            </a:r>
            <a:r>
              <a:rPr lang="en-US" b="1" dirty="0">
                <a:solidFill>
                  <a:srgbClr val="FF0000"/>
                </a:solidFill>
              </a:rPr>
              <a:t> e </a:t>
            </a:r>
            <a:r>
              <a:rPr lang="en-US" b="1" dirty="0" err="1">
                <a:solidFill>
                  <a:srgbClr val="FF0000"/>
                </a:solidFill>
              </a:rPr>
              <a:t>Bondëve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114300" indent="0">
              <a:buNone/>
            </a:pP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Ardhura</a:t>
            </a:r>
            <a:r>
              <a:rPr lang="en-US" b="1" dirty="0"/>
              <a:t>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Qëndrueshme</a:t>
            </a:r>
            <a:r>
              <a:rPr lang="en-US" b="1" dirty="0"/>
              <a:t>: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pagesa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parashikueshme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rregullta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interesit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burim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ardhurash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investitorët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b="1" dirty="0" err="1"/>
              <a:t>Diversifikimi</a:t>
            </a:r>
            <a:r>
              <a:rPr lang="en-US" b="1" dirty="0"/>
              <a:t>: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shpesh</a:t>
            </a:r>
            <a:r>
              <a:rPr lang="en-US" dirty="0"/>
              <a:t> </a:t>
            </a:r>
            <a:r>
              <a:rPr lang="en-US" dirty="0" err="1"/>
              <a:t>konsiderohen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pak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rrezikshme</a:t>
            </a:r>
            <a:r>
              <a:rPr lang="en-US" dirty="0"/>
              <a:t> </a:t>
            </a:r>
            <a:r>
              <a:rPr lang="en-US" dirty="0" err="1"/>
              <a:t>krahasuar</a:t>
            </a:r>
            <a:r>
              <a:rPr lang="en-US" dirty="0"/>
              <a:t> me </a:t>
            </a:r>
            <a:r>
              <a:rPr lang="en-US" dirty="0" err="1"/>
              <a:t>aksionet</a:t>
            </a:r>
            <a:r>
              <a:rPr lang="en-US" dirty="0"/>
              <a:t>, duke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bërë</a:t>
            </a:r>
            <a:r>
              <a:rPr lang="en-US" dirty="0"/>
              <a:t> </a:t>
            </a:r>
            <a:r>
              <a:rPr lang="en-US" dirty="0" err="1"/>
              <a:t>ato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mundësi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mirë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diversifikimin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portofol</a:t>
            </a:r>
            <a:r>
              <a:rPr lang="en-US" dirty="0"/>
              <a:t> </a:t>
            </a:r>
            <a:r>
              <a:rPr lang="en-US" dirty="0" err="1"/>
              <a:t>investimesh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b="1" dirty="0" err="1"/>
              <a:t>Ruajtja</a:t>
            </a:r>
            <a:r>
              <a:rPr lang="en-US" b="1" dirty="0"/>
              <a:t> e </a:t>
            </a:r>
            <a:r>
              <a:rPr lang="en-US" b="1" dirty="0" err="1"/>
              <a:t>Kapitalit</a:t>
            </a:r>
            <a:r>
              <a:rPr lang="en-US" b="1" dirty="0"/>
              <a:t>: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mbahet</a:t>
            </a:r>
            <a:r>
              <a:rPr lang="en-US" dirty="0"/>
              <a:t> </a:t>
            </a:r>
            <a:r>
              <a:rPr lang="en-US" dirty="0" err="1"/>
              <a:t>deri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maturim</a:t>
            </a:r>
            <a:r>
              <a:rPr lang="en-US" dirty="0"/>
              <a:t>,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sigurojnë</a:t>
            </a:r>
            <a:r>
              <a:rPr lang="en-US" dirty="0"/>
              <a:t> </a:t>
            </a:r>
            <a:r>
              <a:rPr lang="en-US" dirty="0" err="1"/>
              <a:t>investitorët</a:t>
            </a:r>
            <a:r>
              <a:rPr lang="en-US" dirty="0"/>
              <a:t> me </a:t>
            </a:r>
            <a:r>
              <a:rPr lang="en-US" dirty="0" err="1"/>
              <a:t>kthimin</a:t>
            </a:r>
            <a:r>
              <a:rPr lang="en-US" dirty="0"/>
              <a:t> e </a:t>
            </a:r>
            <a:r>
              <a:rPr lang="en-US" dirty="0" err="1"/>
              <a:t>shumës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, duke </a:t>
            </a:r>
            <a:r>
              <a:rPr lang="en-US" dirty="0" err="1"/>
              <a:t>ulur</a:t>
            </a:r>
            <a:r>
              <a:rPr lang="en-US" dirty="0"/>
              <a:t> </a:t>
            </a:r>
            <a:r>
              <a:rPr lang="en-US" dirty="0" err="1"/>
              <a:t>rrezikun</a:t>
            </a:r>
            <a:r>
              <a:rPr lang="en-US" dirty="0"/>
              <a:t> e </a:t>
            </a:r>
            <a:r>
              <a:rPr lang="en-US" dirty="0" err="1"/>
              <a:t>humbjes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investimit</a:t>
            </a:r>
            <a:r>
              <a:rPr lang="en-US" dirty="0"/>
              <a:t> </a:t>
            </a:r>
            <a:r>
              <a:rPr lang="en-US" dirty="0" err="1"/>
              <a:t>fillestar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Rreziqet</a:t>
            </a:r>
            <a:r>
              <a:rPr lang="en-US" b="1" dirty="0">
                <a:solidFill>
                  <a:srgbClr val="FF0000"/>
                </a:solidFill>
              </a:rPr>
              <a:t> e </a:t>
            </a:r>
            <a:r>
              <a:rPr lang="en-US" b="1" dirty="0" err="1">
                <a:solidFill>
                  <a:srgbClr val="FF0000"/>
                </a:solidFill>
              </a:rPr>
              <a:t>Bondëve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114300" indent="0">
              <a:buNone/>
            </a:pPr>
            <a:r>
              <a:rPr lang="en-US" b="1" dirty="0" err="1"/>
              <a:t>Rreziku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Kredibilitetit</a:t>
            </a:r>
            <a:r>
              <a:rPr lang="en-US" b="1" dirty="0"/>
              <a:t>: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emituese</a:t>
            </a:r>
            <a:r>
              <a:rPr lang="en-US" dirty="0"/>
              <a:t> </a:t>
            </a:r>
            <a:r>
              <a:rPr lang="en-US" dirty="0" err="1"/>
              <a:t>dështon</a:t>
            </a:r>
            <a:r>
              <a:rPr lang="en-US" dirty="0"/>
              <a:t> (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paguan</a:t>
            </a:r>
            <a:r>
              <a:rPr lang="en-US" dirty="0"/>
              <a:t> </a:t>
            </a:r>
            <a:r>
              <a:rPr lang="en-US" dirty="0" err="1"/>
              <a:t>interesin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shlyen</a:t>
            </a:r>
            <a:r>
              <a:rPr lang="en-US" dirty="0"/>
              <a:t> </a:t>
            </a:r>
            <a:r>
              <a:rPr lang="en-US" dirty="0" err="1"/>
              <a:t>shumën</a:t>
            </a:r>
            <a:r>
              <a:rPr lang="en-US" dirty="0"/>
              <a:t> </a:t>
            </a:r>
            <a:r>
              <a:rPr lang="en-US" dirty="0" err="1"/>
              <a:t>kryesore</a:t>
            </a:r>
            <a:r>
              <a:rPr lang="en-US" dirty="0"/>
              <a:t>), </a:t>
            </a:r>
            <a:r>
              <a:rPr lang="en-US" dirty="0" err="1"/>
              <a:t>mbajtësit</a:t>
            </a:r>
            <a:r>
              <a:rPr lang="en-US" dirty="0"/>
              <a:t> e </a:t>
            </a:r>
            <a:r>
              <a:rPr lang="en-US" dirty="0" err="1"/>
              <a:t>bondëve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humbin</a:t>
            </a:r>
            <a:r>
              <a:rPr lang="en-US" dirty="0"/>
              <a:t> para.</a:t>
            </a:r>
          </a:p>
          <a:p>
            <a:pPr marL="114300" indent="0">
              <a:buNone/>
            </a:pPr>
            <a:r>
              <a:rPr lang="en-US" b="1" dirty="0" err="1"/>
              <a:t>Rreziku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Normës</a:t>
            </a:r>
            <a:r>
              <a:rPr lang="en-US" b="1" dirty="0"/>
              <a:t> </a:t>
            </a:r>
            <a:r>
              <a:rPr lang="en-US" b="1" dirty="0" err="1"/>
              <a:t>së</a:t>
            </a:r>
            <a:r>
              <a:rPr lang="en-US" b="1" dirty="0"/>
              <a:t> </a:t>
            </a:r>
            <a:r>
              <a:rPr lang="en-US" b="1" dirty="0" err="1"/>
              <a:t>Interesit</a:t>
            </a:r>
            <a:r>
              <a:rPr lang="en-US" b="1" dirty="0"/>
              <a:t>: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normat</a:t>
            </a:r>
            <a:r>
              <a:rPr lang="en-US" dirty="0"/>
              <a:t> e </a:t>
            </a:r>
            <a:r>
              <a:rPr lang="en-US" dirty="0" err="1"/>
              <a:t>interesit</a:t>
            </a:r>
            <a:r>
              <a:rPr lang="en-US" dirty="0"/>
              <a:t> </a:t>
            </a:r>
            <a:r>
              <a:rPr lang="en-US" dirty="0" err="1"/>
              <a:t>rriten</a:t>
            </a:r>
            <a:r>
              <a:rPr lang="en-US" dirty="0"/>
              <a:t>,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ekzistuese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humbin</a:t>
            </a:r>
            <a:r>
              <a:rPr lang="en-US" dirty="0"/>
              <a:t> </a:t>
            </a:r>
            <a:r>
              <a:rPr lang="en-US" dirty="0" err="1"/>
              <a:t>vlerë</a:t>
            </a:r>
            <a:r>
              <a:rPr lang="en-US" dirty="0"/>
              <a:t>, </a:t>
            </a:r>
            <a:r>
              <a:rPr lang="en-US" dirty="0" err="1"/>
              <a:t>pasi</a:t>
            </a:r>
            <a:r>
              <a:rPr lang="en-US" dirty="0"/>
              <a:t> </a:t>
            </a:r>
            <a:r>
              <a:rPr lang="en-US" dirty="0" err="1"/>
              <a:t>bondet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reja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paguajnë</a:t>
            </a:r>
            <a:r>
              <a:rPr lang="en-US" dirty="0"/>
              <a:t> </a:t>
            </a:r>
            <a:r>
              <a:rPr lang="en-US" dirty="0" err="1"/>
              <a:t>norma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larta</a:t>
            </a:r>
            <a:r>
              <a:rPr lang="en-US" dirty="0"/>
              <a:t> </a:t>
            </a:r>
            <a:r>
              <a:rPr lang="en-US" dirty="0" err="1"/>
              <a:t>interesi</a:t>
            </a:r>
            <a:r>
              <a:rPr lang="en-US" dirty="0"/>
              <a:t>.</a:t>
            </a:r>
          </a:p>
          <a:p>
            <a:pPr marL="114300" indent="0">
              <a:buNone/>
            </a:pPr>
            <a:r>
              <a:rPr lang="en-US" b="1" dirty="0" err="1"/>
              <a:t>Rreziku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Inflacionit</a:t>
            </a:r>
            <a:r>
              <a:rPr lang="en-US" b="1" dirty="0"/>
              <a:t>: </a:t>
            </a:r>
            <a:r>
              <a:rPr lang="en-US" dirty="0" err="1"/>
              <a:t>Nëse</a:t>
            </a:r>
            <a:r>
              <a:rPr lang="en-US" dirty="0"/>
              <a:t> </a:t>
            </a:r>
            <a:r>
              <a:rPr lang="en-US" dirty="0" err="1"/>
              <a:t>inflacioni</a:t>
            </a:r>
            <a:r>
              <a:rPr lang="en-US" dirty="0"/>
              <a:t> </a:t>
            </a:r>
            <a:r>
              <a:rPr lang="en-US" dirty="0" err="1"/>
              <a:t>rritet</a:t>
            </a:r>
            <a:r>
              <a:rPr lang="en-US" dirty="0"/>
              <a:t>, </a:t>
            </a:r>
            <a:r>
              <a:rPr lang="en-US" dirty="0" err="1"/>
              <a:t>pagesat</a:t>
            </a:r>
            <a:r>
              <a:rPr lang="en-US" dirty="0"/>
              <a:t> </a:t>
            </a:r>
            <a:r>
              <a:rPr lang="en-US" dirty="0" err="1"/>
              <a:t>fikse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interesit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bond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humbasin</a:t>
            </a:r>
            <a:r>
              <a:rPr lang="en-US" dirty="0"/>
              <a:t> </a:t>
            </a:r>
            <a:r>
              <a:rPr lang="en-US" dirty="0" err="1"/>
              <a:t>fuqinë</a:t>
            </a:r>
            <a:r>
              <a:rPr lang="en-US" dirty="0"/>
              <a:t> </a:t>
            </a:r>
            <a:r>
              <a:rPr lang="en-US" dirty="0" err="1"/>
              <a:t>blerëse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1800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BANKAT TREGTARE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3293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endParaRPr lang="en-US" dirty="0"/>
          </a:p>
          <a:p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bankë</a:t>
            </a:r>
            <a:r>
              <a:rPr lang="en-US" dirty="0"/>
              <a:t> </a:t>
            </a:r>
            <a:r>
              <a:rPr lang="en-US" dirty="0" err="1"/>
              <a:t>tregtare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institucion</a:t>
            </a:r>
            <a:r>
              <a:rPr lang="en-US" dirty="0"/>
              <a:t> </a:t>
            </a:r>
            <a:r>
              <a:rPr lang="en-US" dirty="0" err="1"/>
              <a:t>financiar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shërbime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pranimi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depozitave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lëshimi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kredive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Klientët</a:t>
            </a:r>
            <a:r>
              <a:rPr lang="en-US" dirty="0"/>
              <a:t> e </a:t>
            </a:r>
            <a:r>
              <a:rPr lang="en-US" dirty="0" err="1"/>
              <a:t>bankave</a:t>
            </a:r>
            <a:r>
              <a:rPr lang="en-US" dirty="0"/>
              <a:t> </a:t>
            </a:r>
            <a:r>
              <a:rPr lang="en-US" dirty="0" err="1"/>
              <a:t>komerciale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përfitojnë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sërë</a:t>
            </a:r>
            <a:r>
              <a:rPr lang="en-US" dirty="0"/>
              <a:t> </a:t>
            </a:r>
            <a:r>
              <a:rPr lang="en-US" dirty="0" err="1"/>
              <a:t>produktesh</a:t>
            </a:r>
            <a:r>
              <a:rPr lang="en-US" dirty="0"/>
              <a:t> </a:t>
            </a:r>
            <a:r>
              <a:rPr lang="en-US" dirty="0" err="1"/>
              <a:t>investimi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bankat</a:t>
            </a:r>
            <a:r>
              <a:rPr lang="en-US" dirty="0"/>
              <a:t> </a:t>
            </a:r>
            <a:r>
              <a:rPr lang="en-US" dirty="0" err="1"/>
              <a:t>tregtare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llogaritë</a:t>
            </a:r>
            <a:r>
              <a:rPr lang="en-US" dirty="0"/>
              <a:t> e </a:t>
            </a:r>
            <a:r>
              <a:rPr lang="en-US" dirty="0" err="1"/>
              <a:t>kursimit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certifikatat</a:t>
            </a:r>
            <a:r>
              <a:rPr lang="en-US" dirty="0"/>
              <a:t> e </a:t>
            </a:r>
            <a:r>
              <a:rPr lang="en-US" dirty="0" err="1"/>
              <a:t>depozitave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Kreditë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lëshon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bankë</a:t>
            </a:r>
            <a:r>
              <a:rPr lang="en-US" dirty="0"/>
              <a:t> </a:t>
            </a:r>
            <a:r>
              <a:rPr lang="en-US" dirty="0" err="1"/>
              <a:t>komerciale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ndryshojnë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kreditë</a:t>
            </a:r>
            <a:r>
              <a:rPr lang="en-US" dirty="0"/>
              <a:t> e </a:t>
            </a:r>
            <a:r>
              <a:rPr lang="en-US" dirty="0" err="1"/>
              <a:t>biznesit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kreditë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automjete</a:t>
            </a:r>
            <a:r>
              <a:rPr lang="en-US" dirty="0"/>
              <a:t> </a:t>
            </a:r>
            <a:r>
              <a:rPr lang="en-US" dirty="0" err="1"/>
              <a:t>deri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hipotekat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BANKAT TREGTARE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>
              <a:buNone/>
            </a:pPr>
            <a:r>
              <a:rPr lang="en-US" dirty="0" err="1"/>
              <a:t>Përparësitë</a:t>
            </a:r>
            <a:endParaRPr lang="en-US" dirty="0"/>
          </a:p>
          <a:p>
            <a:pPr lvl="0"/>
            <a:r>
              <a:rPr lang="en-US" dirty="0" err="1"/>
              <a:t>Bankat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asistencë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kohë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biznesin</a:t>
            </a:r>
            <a:r>
              <a:rPr lang="en-US" dirty="0"/>
              <a:t> duke </a:t>
            </a:r>
            <a:r>
              <a:rPr lang="en-US" dirty="0" err="1"/>
              <a:t>siguruar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nevojës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kur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nevojiten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Fshehtësia</a:t>
            </a:r>
            <a:r>
              <a:rPr lang="en-US" dirty="0"/>
              <a:t> e </a:t>
            </a:r>
            <a:r>
              <a:rPr lang="en-US" dirty="0" err="1"/>
              <a:t>biznesit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ruhet</a:t>
            </a:r>
            <a:r>
              <a:rPr lang="en-US" dirty="0"/>
              <a:t> </a:t>
            </a:r>
            <a:r>
              <a:rPr lang="en-US" dirty="0" err="1"/>
              <a:t>pasi</a:t>
            </a:r>
            <a:r>
              <a:rPr lang="en-US" dirty="0"/>
              <a:t> </a:t>
            </a:r>
            <a:r>
              <a:rPr lang="en-US" dirty="0" err="1"/>
              <a:t>informacioni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dhënë</a:t>
            </a:r>
            <a:r>
              <a:rPr lang="en-US" dirty="0"/>
              <a:t> </a:t>
            </a:r>
            <a:r>
              <a:rPr lang="en-US" dirty="0" err="1"/>
              <a:t>bankës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huamarrësit</a:t>
            </a:r>
            <a:r>
              <a:rPr lang="en-US" dirty="0"/>
              <a:t> </a:t>
            </a:r>
            <a:r>
              <a:rPr lang="en-US" dirty="0" err="1"/>
              <a:t>mbahet</a:t>
            </a:r>
            <a:r>
              <a:rPr lang="en-US" dirty="0"/>
              <a:t> </a:t>
            </a:r>
            <a:r>
              <a:rPr lang="en-US" dirty="0" err="1"/>
              <a:t>konfidencial</a:t>
            </a:r>
            <a:endParaRPr lang="en-US" dirty="0"/>
          </a:p>
          <a:p>
            <a:pPr lvl="0"/>
            <a:r>
              <a:rPr lang="en-US" dirty="0" err="1"/>
              <a:t>Formalitete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tilla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lëshimi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prospektit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nënshkrimi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kërkohen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marrjen</a:t>
            </a:r>
            <a:r>
              <a:rPr lang="en-US" dirty="0"/>
              <a:t> e </a:t>
            </a:r>
            <a:r>
              <a:rPr lang="en-US" dirty="0" err="1"/>
              <a:t>kredive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bankë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Kredia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bankë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burim</a:t>
            </a:r>
            <a:r>
              <a:rPr lang="en-US" dirty="0"/>
              <a:t> </a:t>
            </a:r>
            <a:r>
              <a:rPr lang="en-US" dirty="0" err="1"/>
              <a:t>fleksibël</a:t>
            </a:r>
            <a:r>
              <a:rPr lang="en-US" dirty="0"/>
              <a:t> </a:t>
            </a:r>
            <a:r>
              <a:rPr lang="en-US" dirty="0" err="1"/>
              <a:t>financimi</a:t>
            </a:r>
            <a:r>
              <a:rPr lang="en-US" dirty="0"/>
              <a:t> </a:t>
            </a:r>
            <a:r>
              <a:rPr lang="en-US" dirty="0" err="1"/>
              <a:t>pasi</a:t>
            </a:r>
            <a:r>
              <a:rPr lang="en-US" dirty="0"/>
              <a:t> </a:t>
            </a:r>
            <a:r>
              <a:rPr lang="en-US" dirty="0" err="1"/>
              <a:t>kredia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nevojave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biznesit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shlyhet</a:t>
            </a:r>
            <a:r>
              <a:rPr lang="en-US" dirty="0"/>
              <a:t> </a:t>
            </a:r>
            <a:r>
              <a:rPr lang="en-US" dirty="0" err="1"/>
              <a:t>paraprakisht</a:t>
            </a:r>
            <a:r>
              <a:rPr lang="en-US" dirty="0"/>
              <a:t> </a:t>
            </a:r>
            <a:r>
              <a:rPr lang="en-US" dirty="0" err="1"/>
              <a:t>kur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nevojiten</a:t>
            </a:r>
            <a:r>
              <a:rPr lang="en-US" dirty="0"/>
              <a:t> </a:t>
            </a:r>
            <a:r>
              <a:rPr lang="en-US" dirty="0" err="1"/>
              <a:t>fonde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Kufizimet</a:t>
            </a:r>
            <a:endParaRPr lang="en-US" dirty="0"/>
          </a:p>
          <a:p>
            <a:pPr lvl="0"/>
            <a:r>
              <a:rPr lang="en-US" dirty="0" err="1"/>
              <a:t>Fondet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përgjithësisht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disponueshme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periudha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shkurtra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zgjatja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rinovimi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tyre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pasigurt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vështirë</a:t>
            </a:r>
            <a:endParaRPr lang="en-US" dirty="0"/>
          </a:p>
          <a:p>
            <a:pPr lvl="0"/>
            <a:r>
              <a:rPr lang="en-US" dirty="0" err="1"/>
              <a:t>Bankierët</a:t>
            </a:r>
            <a:r>
              <a:rPr lang="en-US" dirty="0"/>
              <a:t> </a:t>
            </a:r>
            <a:r>
              <a:rPr lang="en-US" dirty="0" err="1"/>
              <a:t>bëjnë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hetim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detajuar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strukturës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çështjeve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shoqërisë</a:t>
            </a:r>
            <a:r>
              <a:rPr lang="en-US" dirty="0"/>
              <a:t> </a:t>
            </a:r>
            <a:r>
              <a:rPr lang="en-US" dirty="0" err="1"/>
              <a:t>etj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kërkojnë</a:t>
            </a:r>
            <a:r>
              <a:rPr lang="en-US" dirty="0"/>
              <a:t> </a:t>
            </a:r>
            <a:r>
              <a:rPr lang="en-US" dirty="0" err="1"/>
              <a:t>gjithashtu</a:t>
            </a:r>
            <a:r>
              <a:rPr lang="en-US" dirty="0"/>
              <a:t> </a:t>
            </a:r>
            <a:r>
              <a:rPr lang="en-US" dirty="0" err="1"/>
              <a:t>sigurinë</a:t>
            </a:r>
            <a:r>
              <a:rPr lang="en-US" dirty="0"/>
              <a:t> e </a:t>
            </a:r>
            <a:r>
              <a:rPr lang="en-US" dirty="0" err="1"/>
              <a:t>aseteve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garancitë</a:t>
            </a:r>
            <a:r>
              <a:rPr lang="en-US" dirty="0"/>
              <a:t> </a:t>
            </a:r>
            <a:r>
              <a:rPr lang="en-US" dirty="0" err="1"/>
              <a:t>personale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disa</a:t>
            </a:r>
            <a:r>
              <a:rPr lang="en-US" dirty="0"/>
              <a:t> </a:t>
            </a:r>
            <a:r>
              <a:rPr lang="en-US" dirty="0" err="1"/>
              <a:t>raste</a:t>
            </a:r>
            <a:r>
              <a:rPr lang="en-US" dirty="0"/>
              <a:t>, </a:t>
            </a:r>
            <a:r>
              <a:rPr lang="en-US" dirty="0" err="1"/>
              <a:t>bankat</a:t>
            </a:r>
            <a:r>
              <a:rPr lang="en-US" dirty="0"/>
              <a:t> </a:t>
            </a:r>
            <a:r>
              <a:rPr lang="en-US" dirty="0" err="1"/>
              <a:t>vendosin</a:t>
            </a:r>
            <a:r>
              <a:rPr lang="en-US" dirty="0"/>
              <a:t> </a:t>
            </a:r>
            <a:r>
              <a:rPr lang="en-US" dirty="0" err="1"/>
              <a:t>kushte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kushte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vështira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dhënien</a:t>
            </a:r>
            <a:r>
              <a:rPr lang="en-US" dirty="0"/>
              <a:t> e </a:t>
            </a:r>
            <a:r>
              <a:rPr lang="en-US" dirty="0" err="1"/>
              <a:t>kredisë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INSTITUCIONET FINANCIARE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  <a:p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institucion</a:t>
            </a:r>
            <a:r>
              <a:rPr lang="en-US" dirty="0"/>
              <a:t> </a:t>
            </a:r>
            <a:r>
              <a:rPr lang="en-US" dirty="0" err="1"/>
              <a:t>financiar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kompani</a:t>
            </a:r>
            <a:r>
              <a:rPr lang="en-US" dirty="0"/>
              <a:t> e </a:t>
            </a:r>
            <a:r>
              <a:rPr lang="en-US" dirty="0" err="1"/>
              <a:t>angazhuar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biznesin</a:t>
            </a:r>
            <a:r>
              <a:rPr lang="en-US" dirty="0"/>
              <a:t> e </a:t>
            </a:r>
            <a:r>
              <a:rPr lang="en-US" dirty="0" err="1"/>
              <a:t>trajtimit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transaksioneve</a:t>
            </a:r>
            <a:r>
              <a:rPr lang="en-US" dirty="0"/>
              <a:t> </a:t>
            </a:r>
            <a:r>
              <a:rPr lang="en-US" dirty="0" err="1"/>
              <a:t>monetare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tilla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depozitat</a:t>
            </a:r>
            <a:r>
              <a:rPr lang="en-US" dirty="0"/>
              <a:t>, </a:t>
            </a:r>
            <a:r>
              <a:rPr lang="en-US" dirty="0" err="1"/>
              <a:t>huatë</a:t>
            </a:r>
            <a:r>
              <a:rPr lang="en-US" dirty="0"/>
              <a:t>, </a:t>
            </a:r>
            <a:r>
              <a:rPr lang="en-US" dirty="0" err="1"/>
              <a:t>investimet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këmbimi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valutës</a:t>
            </a:r>
            <a:r>
              <a:rPr lang="en-US" dirty="0"/>
              <a:t>....</a:t>
            </a:r>
          </a:p>
          <a:p>
            <a:endParaRPr lang="en-US" dirty="0"/>
          </a:p>
          <a:p>
            <a:r>
              <a:rPr lang="en-US" dirty="0" err="1"/>
              <a:t>Pothuajse</a:t>
            </a:r>
            <a:r>
              <a:rPr lang="en-US" dirty="0"/>
              <a:t> </a:t>
            </a:r>
            <a:r>
              <a:rPr lang="en-US" dirty="0" err="1"/>
              <a:t>kushdo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jeton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zhvilluar</a:t>
            </a:r>
            <a:r>
              <a:rPr lang="en-US" dirty="0"/>
              <a:t> ka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nevojë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vazhdueshme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paktën</a:t>
            </a:r>
            <a:r>
              <a:rPr lang="en-US" dirty="0"/>
              <a:t> </a:t>
            </a:r>
            <a:r>
              <a:rPr lang="en-US" dirty="0" err="1"/>
              <a:t>periodike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shërbimet</a:t>
            </a:r>
            <a:r>
              <a:rPr lang="en-US" dirty="0"/>
              <a:t> e </a:t>
            </a:r>
            <a:r>
              <a:rPr lang="en-US" dirty="0" err="1"/>
              <a:t>institucioneve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INSTITUCIONET FINANCIARE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013290"/>
            <a:ext cx="8520600" cy="4130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buNone/>
            </a:pPr>
            <a:r>
              <a:rPr lang="en-US" dirty="0" err="1"/>
              <a:t>Përparësitë</a:t>
            </a:r>
            <a:endParaRPr lang="en-US" dirty="0"/>
          </a:p>
          <a:p>
            <a:pPr lvl="0"/>
            <a:r>
              <a:rPr lang="en-US" dirty="0" err="1"/>
              <a:t>Institucionet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financa</a:t>
            </a:r>
            <a:r>
              <a:rPr lang="en-US" dirty="0"/>
              <a:t> </a:t>
            </a:r>
            <a:r>
              <a:rPr lang="en-US" dirty="0" err="1"/>
              <a:t>afatgjata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ofrohen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bankat</a:t>
            </a:r>
            <a:r>
              <a:rPr lang="en-US" dirty="0"/>
              <a:t> </a:t>
            </a:r>
            <a:r>
              <a:rPr lang="en-US" dirty="0" err="1"/>
              <a:t>komerciale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Përveç</a:t>
            </a:r>
            <a:r>
              <a:rPr lang="en-US" dirty="0"/>
              <a:t> </a:t>
            </a:r>
            <a:r>
              <a:rPr lang="en-US" dirty="0" err="1"/>
              <a:t>sigurimit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fondeve</a:t>
            </a:r>
            <a:r>
              <a:rPr lang="en-US" dirty="0"/>
              <a:t>, </a:t>
            </a:r>
            <a:r>
              <a:rPr lang="en-US" dirty="0" err="1"/>
              <a:t>shumë</a:t>
            </a:r>
            <a:r>
              <a:rPr lang="en-US" dirty="0"/>
              <a:t> </a:t>
            </a:r>
            <a:r>
              <a:rPr lang="en-US" dirty="0" err="1"/>
              <a:t>prej</a:t>
            </a:r>
            <a:r>
              <a:rPr lang="en-US" dirty="0"/>
              <a:t> </a:t>
            </a:r>
            <a:r>
              <a:rPr lang="en-US" dirty="0" err="1"/>
              <a:t>këtyre</a:t>
            </a:r>
            <a:r>
              <a:rPr lang="en-US" dirty="0"/>
              <a:t> </a:t>
            </a:r>
            <a:r>
              <a:rPr lang="en-US" dirty="0" err="1"/>
              <a:t>institucioneve</a:t>
            </a:r>
            <a:r>
              <a:rPr lang="en-US" dirty="0"/>
              <a:t> </a:t>
            </a:r>
            <a:r>
              <a:rPr lang="en-US" dirty="0" err="1"/>
              <a:t>ofrojnë</a:t>
            </a:r>
            <a:r>
              <a:rPr lang="en-US" dirty="0"/>
              <a:t> </a:t>
            </a:r>
            <a:r>
              <a:rPr lang="en-US" dirty="0" err="1"/>
              <a:t>këshilla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konsulencë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menaxheriale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teknike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firmat</a:t>
            </a:r>
            <a:r>
              <a:rPr lang="en-US" dirty="0"/>
              <a:t> e </a:t>
            </a:r>
            <a:r>
              <a:rPr lang="en-US" dirty="0" err="1"/>
              <a:t>biznesit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Duke </a:t>
            </a:r>
            <a:r>
              <a:rPr lang="en-US" dirty="0" err="1"/>
              <a:t>qenë</a:t>
            </a:r>
            <a:r>
              <a:rPr lang="en-US" dirty="0"/>
              <a:t> se </a:t>
            </a:r>
            <a:r>
              <a:rPr lang="en-US" dirty="0" err="1"/>
              <a:t>shlyerja</a:t>
            </a:r>
            <a:r>
              <a:rPr lang="en-US" dirty="0"/>
              <a:t> e </a:t>
            </a:r>
            <a:r>
              <a:rPr lang="en-US" dirty="0" err="1"/>
              <a:t>kredisë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bëhet</a:t>
            </a:r>
            <a:r>
              <a:rPr lang="en-US" dirty="0"/>
              <a:t> me </a:t>
            </a:r>
            <a:r>
              <a:rPr lang="en-US" dirty="0" err="1"/>
              <a:t>këste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lehta</a:t>
            </a:r>
            <a:r>
              <a:rPr lang="en-US" dirty="0"/>
              <a:t>,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rezulton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barrë</a:t>
            </a:r>
            <a:r>
              <a:rPr lang="en-US" dirty="0"/>
              <a:t> e </a:t>
            </a:r>
            <a:r>
              <a:rPr lang="en-US" dirty="0" err="1"/>
              <a:t>madhe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biznesin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Kufizimet</a:t>
            </a:r>
            <a:endParaRPr lang="en-US" dirty="0"/>
          </a:p>
          <a:p>
            <a:pPr lvl="0"/>
            <a:r>
              <a:rPr lang="en-US" dirty="0" err="1"/>
              <a:t>Institucionet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ndjekin</a:t>
            </a:r>
            <a:r>
              <a:rPr lang="en-US" dirty="0"/>
              <a:t> </a:t>
            </a:r>
            <a:r>
              <a:rPr lang="en-US" dirty="0" err="1"/>
              <a:t>kritere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rrepta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dhënien</a:t>
            </a:r>
            <a:r>
              <a:rPr lang="en-US" dirty="0"/>
              <a:t> e </a:t>
            </a:r>
            <a:r>
              <a:rPr lang="en-US" dirty="0" err="1"/>
              <a:t>kredive</a:t>
            </a:r>
            <a:r>
              <a:rPr lang="en-US" dirty="0"/>
              <a:t>. </a:t>
            </a:r>
            <a:r>
              <a:rPr lang="en-US" dirty="0" err="1"/>
              <a:t>Shumë</a:t>
            </a:r>
            <a:r>
              <a:rPr lang="en-US" dirty="0"/>
              <a:t> </a:t>
            </a:r>
            <a:r>
              <a:rPr lang="en-US" dirty="0" err="1"/>
              <a:t>formalitete</a:t>
            </a:r>
            <a:r>
              <a:rPr lang="en-US" dirty="0"/>
              <a:t> e </a:t>
            </a:r>
            <a:r>
              <a:rPr lang="en-US" dirty="0" err="1"/>
              <a:t>bëjnë</a:t>
            </a:r>
            <a:r>
              <a:rPr lang="en-US" dirty="0"/>
              <a:t> </a:t>
            </a:r>
            <a:r>
              <a:rPr lang="en-US" dirty="0" err="1"/>
              <a:t>procedurën</a:t>
            </a:r>
            <a:r>
              <a:rPr lang="en-US" dirty="0"/>
              <a:t> </a:t>
            </a:r>
            <a:r>
              <a:rPr lang="en-US" dirty="0" err="1"/>
              <a:t>kohë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kushtueshme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Disa</a:t>
            </a:r>
            <a:r>
              <a:rPr lang="en-US" dirty="0"/>
              <a:t> </a:t>
            </a:r>
            <a:r>
              <a:rPr lang="en-US" dirty="0" err="1"/>
              <a:t>kufizime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kufizimi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pagesës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dividentit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vendosur</a:t>
            </a:r>
            <a:r>
              <a:rPr lang="en-US" dirty="0"/>
              <a:t> </a:t>
            </a:r>
            <a:r>
              <a:rPr lang="en-US" dirty="0" err="1"/>
              <a:t>mbi</a:t>
            </a:r>
            <a:r>
              <a:rPr lang="en-US" dirty="0"/>
              <a:t> </a:t>
            </a:r>
            <a:r>
              <a:rPr lang="en-US" dirty="0" err="1"/>
              <a:t>kompetencat</a:t>
            </a:r>
            <a:r>
              <a:rPr lang="en-US" dirty="0"/>
              <a:t> e </a:t>
            </a:r>
            <a:r>
              <a:rPr lang="en-US" dirty="0" err="1"/>
              <a:t>shoqërisë</a:t>
            </a:r>
            <a:r>
              <a:rPr lang="en-US" dirty="0"/>
              <a:t> </a:t>
            </a:r>
            <a:r>
              <a:rPr lang="en-US" dirty="0" err="1"/>
              <a:t>huamarrëse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institucionet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565147" y="2027245"/>
            <a:ext cx="608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67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FALEMINDERIT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3898</Words>
  <Application>Microsoft Office PowerPoint</Application>
  <PresentationFormat>On-screen Show (16:9)</PresentationFormat>
  <Paragraphs>364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Arial</vt:lpstr>
      <vt:lpstr>Simple Light</vt:lpstr>
      <vt:lpstr>MUNDESITE FINANCIARE TE BIZNESIT</vt:lpstr>
      <vt:lpstr>FINANCAT </vt:lpstr>
      <vt:lpstr>FINANCIMI I BIZNESIT </vt:lpstr>
      <vt:lpstr>KUPTIMI I FINANCAVE</vt:lpstr>
      <vt:lpstr>KUPTIMI I FINANCAVE</vt:lpstr>
      <vt:lpstr>ROLI I FINANCAVE NE BIZNES</vt:lpstr>
      <vt:lpstr>PARIMET E FINANCIMIT TE BIZNESIT</vt:lpstr>
      <vt:lpstr>BURIMET E KAPITALIT PER BIZNES</vt:lpstr>
      <vt:lpstr>FITIMET E PASHPËRNDARA</vt:lpstr>
      <vt:lpstr>FITIMET E PASHPËRNDARA</vt:lpstr>
      <vt:lpstr>KREDI TREGTARE</vt:lpstr>
      <vt:lpstr>KREDI TREGTARE</vt:lpstr>
      <vt:lpstr>KREDI TREGTARE</vt:lpstr>
      <vt:lpstr>KREDI TREGTARE</vt:lpstr>
      <vt:lpstr>FAKTORINGU</vt:lpstr>
      <vt:lpstr>FAKTORINGU</vt:lpstr>
      <vt:lpstr>FAKTORINGU</vt:lpstr>
      <vt:lpstr>FAKTORINGU</vt:lpstr>
      <vt:lpstr>FINANCIMI ME DHENIE ME QIRA - Leasing</vt:lpstr>
      <vt:lpstr>FINANCIMI ME DHENIE ME QIRA - Leasing</vt:lpstr>
      <vt:lpstr>FINANCIMI ME DHENIE ME QIRA - Leasing</vt:lpstr>
      <vt:lpstr>FINANCIMI ME DHENIE ME QIRA - Leasing</vt:lpstr>
      <vt:lpstr>FINANCIMI ME DHENIE ME QIRA - Leasing</vt:lpstr>
      <vt:lpstr>DEPOZITAT PUBLIKE</vt:lpstr>
      <vt:lpstr>DEPOZITAT PUBLIKE</vt:lpstr>
      <vt:lpstr>DEPOZITAT PUBLIKE</vt:lpstr>
      <vt:lpstr>DEPOZITAT PUBLIKE</vt:lpstr>
      <vt:lpstr>DEPOZITAT PUBLIKE</vt:lpstr>
      <vt:lpstr>DEPOZITAT PUBLIKE</vt:lpstr>
      <vt:lpstr>OBLIGACIONET (Bondet)</vt:lpstr>
      <vt:lpstr>OBLIGACIONET (Bondet)</vt:lpstr>
      <vt:lpstr>OBLIGACIONET (Bondet)</vt:lpstr>
      <vt:lpstr>OBLIGACIONET (Bondet)</vt:lpstr>
      <vt:lpstr>OBLIGACIONET (Bondet)</vt:lpstr>
      <vt:lpstr>OBLIGACIONET (Bondet)</vt:lpstr>
      <vt:lpstr>OBLIGACIONET (Bondet)</vt:lpstr>
      <vt:lpstr>BANKAT TREGTARE</vt:lpstr>
      <vt:lpstr>BANKAT TREGTARE</vt:lpstr>
      <vt:lpstr>INSTITUCIONET FINANCIARE</vt:lpstr>
      <vt:lpstr>INSTITUCIONET FINANCIARE</vt:lpstr>
      <vt:lpstr>FALEMINDERIT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FINANANCAT E NDERMARRJEVE PUBLIKE</dc:title>
  <cp:lastModifiedBy>Engelbert  Zefaj</cp:lastModifiedBy>
  <cp:revision>91</cp:revision>
  <dcterms:modified xsi:type="dcterms:W3CDTF">2024-12-12T08:39:19Z</dcterms:modified>
</cp:coreProperties>
</file>